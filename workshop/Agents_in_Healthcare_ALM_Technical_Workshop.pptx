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2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7f5c1fbb1d4580" /><Relationship Type="http://schemas.openxmlformats.org/officeDocument/2006/relationships/extended-properties" Target="/docProps/app.xml" Id="R2ca44fe2bb9f4b68" /><Relationship Type="http://schemas.openxmlformats.org/officeDocument/2006/relationships/officeDocument" Target="/ppt/presentation.xml" Id="R8cb777b050e747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a910e893094270"/>
  </p:sldMasterIdLst>
  <p:notesMasterIdLst>
    <p:notesMasterId xmlns:r="http://schemas.openxmlformats.org/officeDocument/2006/relationships" r:id="R717132831fc7461e"/>
  </p:notesMasterIdLst>
  <p:sldIdLst>
    <p:sldId xmlns:r="http://schemas.openxmlformats.org/officeDocument/2006/relationships" id="256" r:id="R5e8523f2437a4a38"/>
    <p:sldId xmlns:r="http://schemas.openxmlformats.org/officeDocument/2006/relationships" id="257" r:id="Rf9f975ac5e634b81"/>
    <p:sldId xmlns:r="http://schemas.openxmlformats.org/officeDocument/2006/relationships" id="258" r:id="R7a293e742b064511"/>
    <p:sldId xmlns:r="http://schemas.openxmlformats.org/officeDocument/2006/relationships" id="259" r:id="Race24c92915d4c2c"/>
    <p:sldId xmlns:r="http://schemas.openxmlformats.org/officeDocument/2006/relationships" id="260" r:id="R1df12f0f21e54ab0"/>
    <p:sldId xmlns:r="http://schemas.openxmlformats.org/officeDocument/2006/relationships" id="261" r:id="R6c95c6f3de3b46e6"/>
    <p:sldId xmlns:r="http://schemas.openxmlformats.org/officeDocument/2006/relationships" id="262" r:id="R76a63e890b1c47ec"/>
    <p:sldId xmlns:r="http://schemas.openxmlformats.org/officeDocument/2006/relationships" id="263" r:id="R0efebc51326c4722"/>
    <p:sldId xmlns:r="http://schemas.openxmlformats.org/officeDocument/2006/relationships" id="264" r:id="R5846e5f33c6e4165"/>
    <p:sldId xmlns:r="http://schemas.openxmlformats.org/officeDocument/2006/relationships" id="265" r:id="R9b7b322b019647bc"/>
    <p:sldId xmlns:r="http://schemas.openxmlformats.org/officeDocument/2006/relationships" id="266" r:id="R91e4bdd932bc42e3"/>
    <p:sldId xmlns:r="http://schemas.openxmlformats.org/officeDocument/2006/relationships" id="267" r:id="R904ddba09e974bd1"/>
    <p:sldId xmlns:r="http://schemas.openxmlformats.org/officeDocument/2006/relationships" id="268" r:id="Rbfda031a009d45ab"/>
    <p:sldId xmlns:r="http://schemas.openxmlformats.org/officeDocument/2006/relationships" id="269" r:id="R52df86b83db746da"/>
    <p:sldId xmlns:r="http://schemas.openxmlformats.org/officeDocument/2006/relationships" id="270" r:id="R53e4f24043744b5d"/>
    <p:sldId xmlns:r="http://schemas.openxmlformats.org/officeDocument/2006/relationships" id="271" r:id="R42f93dbd2f684d67"/>
    <p:sldId xmlns:r="http://schemas.openxmlformats.org/officeDocument/2006/relationships" id="272" r:id="Rc4356a07fad54ec2"/>
    <p:sldId xmlns:r="http://schemas.openxmlformats.org/officeDocument/2006/relationships" id="273" r:id="R1e9629c65ef24dbf"/>
    <p:sldId xmlns:r="http://schemas.openxmlformats.org/officeDocument/2006/relationships" id="274" r:id="Rd661a1c62d584ab2"/>
    <p:sldId xmlns:r="http://schemas.openxmlformats.org/officeDocument/2006/relationships" id="275" r:id="R46a91377f0434d8a"/>
    <p:sldId xmlns:r="http://schemas.openxmlformats.org/officeDocument/2006/relationships" id="276" r:id="Rb94451e480844df1"/>
    <p:sldId xmlns:r="http://schemas.openxmlformats.org/officeDocument/2006/relationships" id="277" r:id="Ra8ebc6c63a984ce5"/>
    <p:sldId xmlns:r="http://schemas.openxmlformats.org/officeDocument/2006/relationships" id="278" r:id="Re2c9460962454245"/>
    <p:sldId xmlns:r="http://schemas.openxmlformats.org/officeDocument/2006/relationships" id="279" r:id="R9cea240968ac44f6"/>
    <p:sldId xmlns:r="http://schemas.openxmlformats.org/officeDocument/2006/relationships" id="280" r:id="R2f137fffb1f146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ebc3310a25478b" /><Relationship Type="http://schemas.openxmlformats.org/officeDocument/2006/relationships/slideMaster" Target="/ppt/slideMasters/slideMaster1.xml" Id="R3aa910e893094270" /><Relationship Type="http://schemas.openxmlformats.org/officeDocument/2006/relationships/notesMaster" Target="/ppt/notesMasters/notesMaster1.xml" Id="R717132831fc7461e" /><Relationship Type="http://schemas.openxmlformats.org/officeDocument/2006/relationships/presProps" Target="/ppt/presProps.xml" Id="R6a2de9724e74433f" /><Relationship Type="http://schemas.openxmlformats.org/officeDocument/2006/relationships/tableStyles" Target="/ppt/tableStyles.xml" Id="Rce23eca0577048f2" /><Relationship Type="http://schemas.openxmlformats.org/officeDocument/2006/relationships/slide" Target="/ppt/slides/slide1.xml" Id="R5e8523f2437a4a38" /><Relationship Type="http://schemas.openxmlformats.org/officeDocument/2006/relationships/slide" Target="/ppt/slides/slide2.xml" Id="Rf9f975ac5e634b81" /><Relationship Type="http://schemas.openxmlformats.org/officeDocument/2006/relationships/slide" Target="/ppt/slides/slide3.xml" Id="R7a293e742b064511" /><Relationship Type="http://schemas.openxmlformats.org/officeDocument/2006/relationships/slide" Target="/ppt/slides/slide4.xml" Id="Race24c92915d4c2c" /><Relationship Type="http://schemas.openxmlformats.org/officeDocument/2006/relationships/slide" Target="/ppt/slides/slide5.xml" Id="R1df12f0f21e54ab0" /><Relationship Type="http://schemas.openxmlformats.org/officeDocument/2006/relationships/slide" Target="/ppt/slides/slide6.xml" Id="R6c95c6f3de3b46e6" /><Relationship Type="http://schemas.openxmlformats.org/officeDocument/2006/relationships/slide" Target="/ppt/slides/slide7.xml" Id="R76a63e890b1c47ec" /><Relationship Type="http://schemas.openxmlformats.org/officeDocument/2006/relationships/slide" Target="/ppt/slides/slide8.xml" Id="R0efebc51326c4722" /><Relationship Type="http://schemas.openxmlformats.org/officeDocument/2006/relationships/slide" Target="/ppt/slides/slide9.xml" Id="R5846e5f33c6e4165" /><Relationship Type="http://schemas.openxmlformats.org/officeDocument/2006/relationships/slide" Target="/ppt/slides/slide10.xml" Id="R9b7b322b019647bc" /><Relationship Type="http://schemas.openxmlformats.org/officeDocument/2006/relationships/slide" Target="/ppt/slides/slide11.xml" Id="R91e4bdd932bc42e3" /><Relationship Type="http://schemas.openxmlformats.org/officeDocument/2006/relationships/slide" Target="/ppt/slides/slide12.xml" Id="R904ddba09e974bd1" /><Relationship Type="http://schemas.openxmlformats.org/officeDocument/2006/relationships/slide" Target="/ppt/slides/slide13.xml" Id="Rbfda031a009d45ab" /><Relationship Type="http://schemas.openxmlformats.org/officeDocument/2006/relationships/slide" Target="/ppt/slides/slide14.xml" Id="R52df86b83db746da" /><Relationship Type="http://schemas.openxmlformats.org/officeDocument/2006/relationships/slide" Target="/ppt/slides/slide15.xml" Id="R53e4f24043744b5d" /><Relationship Type="http://schemas.openxmlformats.org/officeDocument/2006/relationships/slide" Target="/ppt/slides/slide16.xml" Id="R42f93dbd2f684d67" /><Relationship Type="http://schemas.openxmlformats.org/officeDocument/2006/relationships/slide" Target="/ppt/slides/slide17.xml" Id="Rc4356a07fad54ec2" /><Relationship Type="http://schemas.openxmlformats.org/officeDocument/2006/relationships/slide" Target="/ppt/slides/slide18.xml" Id="R1e9629c65ef24dbf" /><Relationship Type="http://schemas.openxmlformats.org/officeDocument/2006/relationships/slide" Target="/ppt/slides/slide19.xml" Id="Rd661a1c62d584ab2" /><Relationship Type="http://schemas.openxmlformats.org/officeDocument/2006/relationships/slide" Target="/ppt/slides/slide20.xml" Id="R46a91377f0434d8a" /><Relationship Type="http://schemas.openxmlformats.org/officeDocument/2006/relationships/slide" Target="/ppt/slides/slide21.xml" Id="Rb94451e480844df1" /><Relationship Type="http://schemas.openxmlformats.org/officeDocument/2006/relationships/slide" Target="/ppt/slides/slide22.xml" Id="Ra8ebc6c63a984ce5" /><Relationship Type="http://schemas.openxmlformats.org/officeDocument/2006/relationships/slide" Target="/ppt/slides/slide23.xml" Id="Re2c9460962454245" /><Relationship Type="http://schemas.openxmlformats.org/officeDocument/2006/relationships/slide" Target="/ppt/slides/slide24.xml" Id="R9cea240968ac44f6" /><Relationship Type="http://schemas.openxmlformats.org/officeDocument/2006/relationships/slide" Target="/ppt/slides/slide25.xml" Id="R2f137fffb1f146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13478da3a146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51c160ff2b4c6e" /><Relationship Type="http://schemas.openxmlformats.org/officeDocument/2006/relationships/notesMaster" Target="/ppt/notesMasters/notesMaster1.xml" Id="Ra2f20cd423ae4d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ea4edf52a042fc" /><Relationship Type="http://schemas.openxmlformats.org/officeDocument/2006/relationships/notesMaster" Target="/ppt/notesMasters/notesMaster1.xml" Id="R99dc242cb7be49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c13ca8495e4a46" /><Relationship Type="http://schemas.openxmlformats.org/officeDocument/2006/relationships/notesMaster" Target="/ppt/notesMasters/notesMaster1.xml" Id="Rb5bb8a56e6f34b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b686352f93484a" /><Relationship Type="http://schemas.openxmlformats.org/officeDocument/2006/relationships/notesMaster" Target="/ppt/notesMasters/notesMaster1.xml" Id="R6884f15a5f0642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d697ff2d1644f9" /><Relationship Type="http://schemas.openxmlformats.org/officeDocument/2006/relationships/notesMaster" Target="/ppt/notesMasters/notesMaster1.xml" Id="Re99f604837fb4b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9b8213278d4f21" /><Relationship Type="http://schemas.openxmlformats.org/officeDocument/2006/relationships/notesMaster" Target="/ppt/notesMasters/notesMaster1.xml" Id="Red27fb86bcd941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bcc0d9d6fd46dd" /><Relationship Type="http://schemas.openxmlformats.org/officeDocument/2006/relationships/notesMaster" Target="/ppt/notesMasters/notesMaster1.xml" Id="R3f3015a4eb1b4b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4cc4bf324548ba" /><Relationship Type="http://schemas.openxmlformats.org/officeDocument/2006/relationships/notesMaster" Target="/ppt/notesMasters/notesMaster1.xml" Id="R23984012a54f40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ecc3b959684bb5" /><Relationship Type="http://schemas.openxmlformats.org/officeDocument/2006/relationships/notesMaster" Target="/ppt/notesMasters/notesMaster1.xml" Id="R9db88dbe13f24d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ffc2e039704db6" /><Relationship Type="http://schemas.openxmlformats.org/officeDocument/2006/relationships/notesMaster" Target="/ppt/notesMasters/notesMaster1.xml" Id="R27ada1b64e4948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361920ee354bb2" /><Relationship Type="http://schemas.openxmlformats.org/officeDocument/2006/relationships/notesMaster" Target="/ppt/notesMasters/notesMaster1.xml" Id="R25b0a15be9fd41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c7a29e391c4cbd" /><Relationship Type="http://schemas.openxmlformats.org/officeDocument/2006/relationships/notesMaster" Target="/ppt/notesMasters/notesMaster1.xml" Id="R967992778c1e46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ed8f71c5194987" /><Relationship Type="http://schemas.openxmlformats.org/officeDocument/2006/relationships/notesMaster" Target="/ppt/notesMasters/notesMaster1.xml" Id="R34b400c45be04c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4044a0d5e5240ae" /><Relationship Type="http://schemas.openxmlformats.org/officeDocument/2006/relationships/notesMaster" Target="/ppt/notesMasters/notesMaster1.xml" Id="R022043e4da084e7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84e3aa89ee4168" /><Relationship Type="http://schemas.openxmlformats.org/officeDocument/2006/relationships/notesMaster" Target="/ppt/notesMasters/notesMaster1.xml" Id="Re23fad413e9444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2f997464c2246eb" /><Relationship Type="http://schemas.openxmlformats.org/officeDocument/2006/relationships/notesMaster" Target="/ppt/notesMasters/notesMaster1.xml" Id="R267dd3cbd4c3445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0791bb03acd4e3b" /><Relationship Type="http://schemas.openxmlformats.org/officeDocument/2006/relationships/notesMaster" Target="/ppt/notesMasters/notesMaster1.xml" Id="R2f62c8667e804de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d7ce914582e4f0e" /><Relationship Type="http://schemas.openxmlformats.org/officeDocument/2006/relationships/notesMaster" Target="/ppt/notesMasters/notesMaster1.xml" Id="R7482f1fa76c84e8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d6049fdafae409a" /><Relationship Type="http://schemas.openxmlformats.org/officeDocument/2006/relationships/notesMaster" Target="/ppt/notesMasters/notesMaster1.xml" Id="Rc9a2632c0591433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fa802472e54457e" /><Relationship Type="http://schemas.openxmlformats.org/officeDocument/2006/relationships/notesMaster" Target="/ppt/notesMasters/notesMaster1.xml" Id="R4de6d875786a4a0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7786b7db0fa4c4c" /><Relationship Type="http://schemas.openxmlformats.org/officeDocument/2006/relationships/notesMaster" Target="/ppt/notesMasters/notesMaster1.xml" Id="R5d18266cbd9546e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2067fac82d94b09" /><Relationship Type="http://schemas.openxmlformats.org/officeDocument/2006/relationships/notesMaster" Target="/ppt/notesMasters/notesMaster1.xml" Id="Rc92d1dafb4a5410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6114710c4244302" /><Relationship Type="http://schemas.openxmlformats.org/officeDocument/2006/relationships/notesMaster" Target="/ppt/notesMasters/notesMaster1.xml" Id="R5e06e2c2886349e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e37cd29a8124bc0" /><Relationship Type="http://schemas.openxmlformats.org/officeDocument/2006/relationships/notesMaster" Target="/ppt/notesMasters/notesMaster1.xml" Id="R82ff6ea699dc40f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abc5c54d3f04844" /><Relationship Type="http://schemas.openxmlformats.org/officeDocument/2006/relationships/notesMaster" Target="/ppt/notesMasters/notesMaster1.xml" Id="R79f8d68042ea45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Frame this as an engineering workshop, not a product pitch.</a:t>
            </a:r>
          </a:p>
          <a:p xmlns:a="http://schemas.openxmlformats.org/drawingml/2006/main">
            <a:r>
              <a:t>The goal is to inspect a working query-driven agent and the boundaries that make it defensible in a safety-critical domain.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Cover image generated for this deck with OpenAI image generation on 2026-08-16.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the room what evidence they would require before approving a replacement decision.</a:t>
            </a:r>
          </a:p>
          <a:p xmlns:a="http://schemas.openxmlformats.org/drawingml/2006/main">
            <a:r>
              <a:t>Use their answers to distinguish orchestration from authority: the model chooses tools; governed code and data produce the decisive 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present 9,924 as an industry average. It is a concrete published example that makes the scale tangible.</a:t>
            </a:r>
          </a:p>
          <a:p xmlns:a="http://schemas.openxmlformats.org/drawingml/2006/main">
            <a:r>
              <a:t>Joint Commission guidance makes the inventory obligation explicit for deemed-status organizations and requires identification of high-risk equipment.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https://www.frontiersin.org/journals/artificial-intelligence/articles/10.3389/frai.2026.1791935/full</a:t>
            </a:r>
          </a:p>
          <a:p xmlns:a="http://schemas.openxmlformats.org/drawingml/2006/main">
            <a:r>
              <a:t>- https://www.fda.gov/medical-devices/medical-device-reporting-mdr-how-report-medical-device-problems/mdr-data-files</a:t>
            </a:r>
          </a:p>
          <a:p xmlns:a="http://schemas.openxmlformats.org/drawingml/2006/main">
            <a:r>
              <a:t>- https://www.jointcommission.org/en-us/knowledge-library/support-center/standards-interpretation/standards-faqs/000001209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which system in the audience's environment owns each field. Ownership differs across hospitals.</a:t>
            </a:r>
          </a:p>
          <a:p xmlns:a="http://schemas.openxmlformats.org/drawingml/2006/main">
            <a:r>
              <a:t>The architecture should preserve provenance per source rather than flattening every signal into a single undifferentiated document store.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https://iris.who.int/bitstream/handle/10665/381579/9789240111257-eng.pdf?sequence=1</a:t>
            </a:r>
          </a:p>
          <a:p xmlns:a="http://schemas.openxmlformats.org/drawingml/2006/main">
            <a:r>
              <a:t>- https://www.who.int/publications/i/item/9789241501392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prototype makes match confidence explicit instead of hiding it inside a similarity score.</a:t>
            </a:r>
          </a:p>
          <a:p xmlns:a="http://schemas.openxmlformats.org/drawingml/2006/main">
            <a:r>
              <a:t>A product-code-only match is useful for context but cannot dominate a unit-level retirement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implementation: src/healthcare_alm/analysis/correlate.py</a:t>
            </a:r>
          </a:p>
          <a:p xmlns:a="http://schemas.openxmlformats.org/drawingml/2006/main">
            <a:r>
              <a:t>- WHO inventory guidance: https://iris.who.int/bitstream/handle/10665/381579/9789240111257-eng.pdf?sequence=1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full name once, then use MAUDE.</a:t>
            </a:r>
          </a:p>
          <a:p xmlns:a="http://schemas.openxmlformats.org/drawingml/2006/main">
            <a:r>
              <a:t>The key framing is passive surveillance: valuable for detecting signals, structurally limited for causal or rate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https://www.fda.gov/medical-devices/mandatory-reporting-requirements-manufacturers-importers-and-device-user-facilities/about-manufacturer-and-user-facility-device-experience-maude-database</a:t>
            </a:r>
          </a:p>
          <a:p xmlns:a="http://schemas.openxmlformats.org/drawingml/2006/main">
            <a:r>
              <a:t>- https://www.fda.gov/medical-devices/medical-device-reporting-mdr-how-report-medical-device-problems/mdr-data-files</a:t>
            </a:r>
          </a:p>
          <a:p xmlns:a="http://schemas.openxmlformats.org/drawingml/2006/main">
            <a:r>
              <a:t>- https://open.fda.gov/apis/device/event/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prototype normalizes only the fields required for matching, trend windows, event-type mix, and source provenance.</a:t>
            </a:r>
          </a:p>
          <a:p xmlns:a="http://schemas.openxmlformats.org/drawingml/2006/main">
            <a:r>
              <a:t>Point out that arrays and supplemental reports complicate naive counting and deduplication.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https://open.fda.gov/apis/device/event/searchable-fields/</a:t>
            </a:r>
          </a:p>
          <a:p xmlns:a="http://schemas.openxmlformats.org/drawingml/2006/main">
            <a:r>
              <a:t>- https://open.fda.gov/apis/device/event/how-to-use-the-endpoint/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not a generic disclaimer slide. It is a required agent behavior that the evaluation suite tests.</a:t>
            </a:r>
          </a:p>
          <a:p xmlns:a="http://schemas.openxmlformats.org/drawingml/2006/main">
            <a:r>
              <a:t>FDA explicitly warns that MDR data cannot determine rates because of under-reporting, inaccuracies, lack of causality verification, and missing usage frequency.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https://www.fda.gov/medical-devices/medical-device-reporting-mdr-how-report-medical-device-problems/mdr-data-files</a:t>
            </a:r>
          </a:p>
          <a:p xmlns:a="http://schemas.openxmlformats.org/drawingml/2006/main">
            <a:r>
              <a:t>- https://www.fda.gov/medical-devices/mandatory-reporting-requirements-manufacturers-importers-and-device-user-facilities/about-manufacturer-and-user-facility-device-experience-maude-database</a:t>
            </a:r>
          </a:p>
          <a:p xmlns:a="http://schemas.openxmlformats.org/drawingml/2006/main">
            <a:r>
              <a:t>- Local evaluation: evaluation/agent_queries.json (Q07)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 explicit that every hospital inventory and maintenance row is fictional.</a:t>
            </a:r>
          </a:p>
          <a:p xmlns:a="http://schemas.openxmlformats.org/drawingml/2006/main">
            <a:r>
              <a:t>The synthetic dataset is designed to test agent behavior, not to estimate real-world clinical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files: data/mock_inventory.csv and data/mock_maintenance.csv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Show that the local data is intentionally wide: the SQL agent can answer many operational questions without overloading the FDA tools.</a:t>
            </a:r>
          </a:p>
          <a:p xmlns:a="http://schemas.openxmlformats.org/drawingml/2006/main">
            <a:r>
              <a:t>The two public datasets are normalized separately to retain their distinct semantics.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files: data/mock_inventory.csv, data/mock_maintenance.csv, data/fixtures/maude_frn.json, data/fixtures/recalls_frn.json</a:t>
            </a:r>
          </a:p>
          <a:p xmlns:a="http://schemas.openxmlformats.org/drawingml/2006/main">
            <a:r>
              <a:t>- FDA product-code context: https://open.fda.gov/apis/device/recall/explore-the-api-with-an-interactive-chart/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Walk left to right: local operational data, public signal, policy output.</a:t>
            </a:r>
          </a:p>
          <a:p xmlns:a="http://schemas.openxmlformats.org/drawingml/2006/main">
            <a:r>
              <a:t>The recommendation is strong because different evidence types agree—not because MAUDE alone proved causality.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evaluation report: output/evaluations/20260816T092155Z/summary.json (Q05 and Q09)</a:t>
            </a:r>
          </a:p>
          <a:p xmlns:a="http://schemas.openxmlformats.org/drawingml/2006/main">
            <a:r>
              <a:t>- Local policy: src/healthcare_alm/analysis/scoring.py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deliberately not a seven-agent pipeline. There is one reasoning loop and multiple independently testable capabilities.</a:t>
            </a:r>
          </a:p>
          <a:p xmlns:a="http://schemas.openxmlformats.org/drawingml/2006/main">
            <a:r>
              <a:t>The boundary matters more than the label: SQL is read-only, recall is an MCP function group, scoring is deterministic, generated code runs out of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config: configs/config_aiq_agent.yml</a:t>
            </a:r>
          </a:p>
          <a:p xmlns:a="http://schemas.openxmlformats.org/drawingml/2006/main">
            <a:r>
              <a:t>- NVIDIA AI-Q Blueprint: https://github.com/NVIDIA-AI-Blueprints/aiq/tree/v2.2.0-rc3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 this with the retired frontend: a user query now drives tool selection.</a:t>
            </a:r>
          </a:p>
          <a:p xmlns:a="http://schemas.openxmlformats.org/drawingml/2006/main">
            <a:r>
              <a:t>Tool-use traces in the evaluation report prove that easy cases do not pay the cost or risk of unnecessary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agent: src/healthcare_alm/agent/deep_agent.py</a:t>
            </a:r>
          </a:p>
          <a:p xmlns:a="http://schemas.openxmlformats.org/drawingml/2006/main">
            <a:r>
              <a:t>- Local evaluation: output/evaluations/20260816T092155Z/summary.json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connects the healthcare fork to the earlier industrial ALM example.</a:t>
            </a:r>
          </a:p>
          <a:p xmlns:a="http://schemas.openxmlformats.org/drawingml/2006/main">
            <a:r>
              <a:t>The omission of anomaly and RUL models is intentional: they would need a validated model contract and domain evidence before they belong in the demo's decision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NVIDIA example: https://github.com/NVIDIA/GenerativeAIExamples/tree/main/industries/asset_lifecycle_management_agent</a:t>
            </a:r>
          </a:p>
          <a:p xmlns:a="http://schemas.openxmlformats.org/drawingml/2006/main">
            <a:r>
              <a:t>- Local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Emphasize that tool descriptions are part of the safety architecture because they shape selection and retry behavior.</a:t>
            </a:r>
          </a:p>
          <a:p xmlns:a="http://schemas.openxmlformats.org/drawingml/2006/main">
            <a:r>
              <a:t>Each deterministic tool can be unit tested without the LLM.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tool implementation: src/healthcare_alm/agent/domain.py</a:t>
            </a:r>
          </a:p>
          <a:p xmlns:a="http://schemas.openxmlformats.org/drawingml/2006/main">
            <a:r>
              <a:t>- Local registration: src/healthcare_alm/aiq/register.py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 configs/config_aiq_agent.yml during the workshop if the audience wants the exact component names.</a:t>
            </a:r>
          </a:p>
          <a:p xmlns:a="http://schemas.openxmlformats.org/drawingml/2006/main">
            <a:r>
              <a:t>The healthcare tools remain ordinary Python; AI-Q supplies registration, model plumbing, MCP composition, DeepAgents integration, and artifact lifecycle.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config: configs/config_aiq_agent.yml</a:t>
            </a:r>
          </a:p>
          <a:p xmlns:a="http://schemas.openxmlformats.org/drawingml/2006/main">
            <a:r>
              <a:t>- https://github.com/NVIDIA-AI-Blueprints/aiq/tree/v2.2.0-rc3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tool does not trust the model's SQL merely because the model produced it.</a:t>
            </a:r>
          </a:p>
          <a:p xmlns:a="http://schemas.openxmlformats.org/drawingml/2006/main">
            <a:r>
              <a:t>The schema-first rule is tested in the system prompt and tool path; invalid SQL returns guidance so the same agent can self-correct.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retriever: src/healthcare_alm/retrievers/sql.py</a:t>
            </a:r>
          </a:p>
          <a:p xmlns:a="http://schemas.openxmlformats.org/drawingml/2006/main">
            <a:r>
              <a:t>- Local tests: tests/test_agent_tools.py and tests/test_deep_agent.py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is used where an independently deployable or replaceable integration boundary is useful; it is not required for every tool.</a:t>
            </a:r>
          </a:p>
          <a:p xmlns:a="http://schemas.openxmlformats.org/drawingml/2006/main">
            <a:r>
              <a:t>The confidence tier directly changes scoring behavior, so fuzzy matching cannot silently overpower local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MCP server: src/healthcare_alm/mcp/recall_server.py</a:t>
            </a:r>
          </a:p>
          <a:p xmlns:a="http://schemas.openxmlformats.org/drawingml/2006/main">
            <a:r>
              <a:t>- Local matcher: src/healthcare_alm/analysis/correlate.py</a:t>
            </a:r>
          </a:p>
          <a:p xmlns:a="http://schemas.openxmlformats.org/drawingml/2006/main">
            <a:r>
              <a:t>- https://open.fda.gov/apis/device/recall/searchable-fields/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formula is a workshop policy and must be replaced or governed for a real hospital.</a:t>
            </a:r>
          </a:p>
          <a:p xmlns:a="http://schemas.openxmlformats.org/drawingml/2006/main">
            <a:r>
              <a:t>The architectural principle is durable: let the LLM explain inputs and invoke policy, but keep the policy itself versioned and deterministic.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scoring: src/healthcare_alm/analysis/scoring.py</a:t>
            </a:r>
          </a:p>
          <a:p xmlns:a="http://schemas.openxmlformats.org/drawingml/2006/main">
            <a:r>
              <a:t>- Local planner: src/healthcare_alm/analysis/planner.py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Separate security from correctness. The sandbox limits filesystem, process, network, and secret exposure; validation still checks whether the analysis and artifacts answer the question.</a:t>
            </a:r>
          </a:p>
          <a:p xmlns:a="http://schemas.openxmlformats.org/drawingml/2006/main">
            <a:r>
              <a:t>This local macOS/Colima setup is workshop-grade and explicitly not presented as a production security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policy: configs/openshell-policy.yml</a:t>
            </a:r>
          </a:p>
          <a:p xmlns:a="http://schemas.openxmlformats.org/drawingml/2006/main">
            <a:r>
              <a:t>- NVIDIA OpenShell: https://github.com/NVIDIA/OpenShell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Point to cleanup as part of the happy path and the error path. The agent finalizer harvests artifacts before deletion.</a:t>
            </a:r>
          </a:p>
          <a:p xmlns:a="http://schemas.openxmlformats.org/drawingml/2006/main">
            <a:r>
              <a:t>AI-Q's sandbox contract allows the provider to change without rewriting the domain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AI-Q config: configs/config_aiq_agent.yml</a:t>
            </a:r>
          </a:p>
          <a:p xmlns:a="http://schemas.openxmlformats.org/drawingml/2006/main">
            <a:r>
              <a:t>- Local policy: configs/openshell-policy.yml</a:t>
            </a:r>
          </a:p>
          <a:p xmlns:a="http://schemas.openxmlformats.org/drawingml/2006/main">
            <a:r>
              <a:t>- AI-Q sandbox roadmap: https://github.com/NVIDIA-AI-Blueprints/aiq/blob/develop/CHANGELOG.md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a real artifact from the live evaluation, not a mock slide chart.</a:t>
            </a:r>
          </a:p>
          <a:p xmlns:a="http://schemas.openxmlformats.org/drawingml/2006/main">
            <a:r>
              <a:t>The code path matters more than the coefficient: SQL retrieved the data, the model generated a script, OpenShell executed it, and the run finalizer captured both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run: output/agent-runs/09e3fa29-ca96-4cfb-a68b-a9065ed778e4/</a:t>
            </a:r>
          </a:p>
          <a:p xmlns:a="http://schemas.openxmlformats.org/drawingml/2006/main">
            <a:r>
              <a:t>- Local evaluation: output/evaluations/20260816T092155Z/summary.json (Q08)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this to explain why code execution belongs in the agent: the calculation and visualization were not pre-wired into the application.</a:t>
            </a:r>
          </a:p>
          <a:p xmlns:a="http://schemas.openxmlformats.org/drawingml/2006/main">
            <a:r>
              <a:t>The authoritative downtime field is the cumulative per-asset inventory value, avoiding double-counting work-order fragments.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run: output/agent-runs/06b77a56-9a74-41d8-a403-6f1880e9e6b9/</a:t>
            </a:r>
          </a:p>
          <a:p xmlns:a="http://schemas.openxmlformats.org/drawingml/2006/main">
            <a:r>
              <a:t>- Local evaluation: output/evaluations/20260816T092155Z/summary.json (Q10)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fluent answer can still fail if the tool trajectory is wrong, the safety boundary is crossed, or the PNG was never produced.</a:t>
            </a:r>
          </a:p>
          <a:p xmlns:a="http://schemas.openxmlformats.org/drawingml/2006/main">
            <a:r>
              <a:t>The evaluation dataset is the workshop's executable specification and the fastest place to add new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dataset: evaluation/agent_queries.json</a:t>
            </a:r>
          </a:p>
          <a:p xmlns:a="http://schemas.openxmlformats.org/drawingml/2006/main">
            <a:r>
              <a:t>- Local live report: output/evaluations/20260816T092155Z/summary.json</a:t>
            </a:r>
          </a:p>
          <a:p xmlns:a="http://schemas.openxmlformats.org/drawingml/2006/main">
            <a:r>
              <a:t>- Local tests: tests/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 including live 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the primary ICU retirement query. Open run.json, then show the newest artifact folder.</a:t>
            </a:r>
          </a:p>
          <a:p xmlns:a="http://schemas.openxmlformats.org/drawingml/2006/main">
            <a:r>
              <a:t>If time permits, run Q08 to demonstrate generated Python and artifact harvesting.</a:t>
            </a:r>
          </a:p>
          <a:p xmlns:a="http://schemas.openxmlformats.org/drawingml/2006/main">
            <a:r>
              <a:t>Close on the reusable blueprint: schema adapter + evidence tools + governed policy + sandbox + evaluations.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use the workshop link provided by your instructor</a:t>
            </a:r>
          </a:p>
          <a:p xmlns:a="http://schemas.openxmlformats.org/drawingml/2006/main">
            <a:r>
              <a:t>- Local runbook: workshop/demo_runbook.md</a:t>
            </a:r>
          </a:p>
          <a:p xmlns:a="http://schemas.openxmlformats.org/drawingml/2006/main">
            <a:r>
              <a:t>- Local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e98829e2db46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df6f6c5c9f40d9" /><Relationship Type="http://schemas.openxmlformats.org/officeDocument/2006/relationships/slideLayout" Target="/ppt/slideLayouts/slideLayout1.xml" Id="R634f9b447e5748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4f9b447e5748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e2216f8bd4ecb" /><Relationship Type="http://schemas.openxmlformats.org/officeDocument/2006/relationships/image" Target="/ppt/media/image.png" Id="Rf088935aa87b4cda" /><Relationship Type="http://schemas.openxmlformats.org/officeDocument/2006/relationships/notesSlide" Target="/ppt/notesSlides/notesSlide1.xml" Id="R7e3dff02f9f84c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460fdcade4527" /><Relationship Type="http://schemas.openxmlformats.org/officeDocument/2006/relationships/notesSlide" Target="/ppt/notesSlides/notesSlide2.xml" Id="Rb02cc2bff1f74f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d3d685f904240" /><Relationship Type="http://schemas.openxmlformats.org/officeDocument/2006/relationships/notesSlide" Target="/ppt/notesSlides/notesSlide3.xml" Id="Re8c6f9c94a6748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264cd2ba94dca" /><Relationship Type="http://schemas.openxmlformats.org/officeDocument/2006/relationships/notesSlide" Target="/ppt/notesSlides/notesSlide4.xml" Id="Rf54e073a9f8649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1e1cad4c14f36" /><Relationship Type="http://schemas.openxmlformats.org/officeDocument/2006/relationships/notesSlide" Target="/ppt/notesSlides/notesSlide5.xml" Id="R9b8ee8070b2341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7f746f1204456" /><Relationship Type="http://schemas.openxmlformats.org/officeDocument/2006/relationships/notesSlide" Target="/ppt/notesSlides/notesSlide6.xml" Id="R9846df2efb2347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98b88e06640f7" /><Relationship Type="http://schemas.openxmlformats.org/officeDocument/2006/relationships/notesSlide" Target="/ppt/notesSlides/notesSlide7.xml" Id="R26041076a30348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eba73bd274b35" /><Relationship Type="http://schemas.openxmlformats.org/officeDocument/2006/relationships/notesSlide" Target="/ppt/notesSlides/notesSlide8.xml" Id="R0d4204ee5f7b43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81c5dfbcc4908" /><Relationship Type="http://schemas.openxmlformats.org/officeDocument/2006/relationships/notesSlide" Target="/ppt/notesSlides/notesSlide9.xml" Id="Rc62eb0b6158041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8ce8e0a0644ea" /><Relationship Type="http://schemas.openxmlformats.org/officeDocument/2006/relationships/notesSlide" Target="/ppt/notesSlides/notesSlide10.xml" Id="R56ab163ed2c842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5e88a812945f7" /><Relationship Type="http://schemas.openxmlformats.org/officeDocument/2006/relationships/chart" Target="/ppt/slides/charts/chart1.xml" Id="R3516947b0e324f4c" /><Relationship Type="http://schemas.openxmlformats.org/officeDocument/2006/relationships/notesSlide" Target="/ppt/notesSlides/notesSlide11.xml" Id="Rd974b0172f0749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89c4673434a56" /><Relationship Type="http://schemas.openxmlformats.org/officeDocument/2006/relationships/notesSlide" Target="/ppt/notesSlides/notesSlide12.xml" Id="R305563a6031844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f3aa9a8f649e9" /><Relationship Type="http://schemas.openxmlformats.org/officeDocument/2006/relationships/notesSlide" Target="/ppt/notesSlides/notesSlide13.xml" Id="R166dfe3cd31a49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b312716724b0d" /><Relationship Type="http://schemas.openxmlformats.org/officeDocument/2006/relationships/notesSlide" Target="/ppt/notesSlides/notesSlide14.xml" Id="R2a092b7ef7164a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bb176ed1a4e52" /><Relationship Type="http://schemas.openxmlformats.org/officeDocument/2006/relationships/notesSlide" Target="/ppt/notesSlides/notesSlide15.xml" Id="R8134ad56b94844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792255d8d49f3" /><Relationship Type="http://schemas.openxmlformats.org/officeDocument/2006/relationships/notesSlide" Target="/ppt/notesSlides/notesSlide16.xml" Id="R07aeaa8aeeeb47d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fc7a6a71c491c" /><Relationship Type="http://schemas.openxmlformats.org/officeDocument/2006/relationships/notesSlide" Target="/ppt/notesSlides/notesSlide17.xml" Id="Rac76fdf492f0433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f3cd9277f4b97" /><Relationship Type="http://schemas.openxmlformats.org/officeDocument/2006/relationships/notesSlide" Target="/ppt/notesSlides/notesSlide18.xml" Id="R3b447535a10a4f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be98819b14c02" /><Relationship Type="http://schemas.openxmlformats.org/officeDocument/2006/relationships/chart" Target="/ppt/slides/charts/chart2.xml" Id="Rd1cdf2f754e84ad4" /><Relationship Type="http://schemas.openxmlformats.org/officeDocument/2006/relationships/notesSlide" Target="/ppt/notesSlides/notesSlide19.xml" Id="Re1a4c3f275fa48b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9e1c7170e41b5" /><Relationship Type="http://schemas.openxmlformats.org/officeDocument/2006/relationships/notesSlide" Target="/ppt/notesSlides/notesSlide20.xml" Id="R054203b9f243454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83e4cd09149e3" /><Relationship Type="http://schemas.openxmlformats.org/officeDocument/2006/relationships/notesSlide" Target="/ppt/notesSlides/notesSlide21.xml" Id="Rf87e2a8876a440a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a21275ad34e07" /><Relationship Type="http://schemas.openxmlformats.org/officeDocument/2006/relationships/image" Target="/ppt/media/image2.png" Id="Rddd4b7ccbd8242c6" /><Relationship Type="http://schemas.openxmlformats.org/officeDocument/2006/relationships/notesSlide" Target="/ppt/notesSlides/notesSlide22.xml" Id="Re0bfc27ddde449d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ee514d719429b" /><Relationship Type="http://schemas.openxmlformats.org/officeDocument/2006/relationships/image" Target="/ppt/media/image3.png" Id="R647745139a844c1d" /><Relationship Type="http://schemas.openxmlformats.org/officeDocument/2006/relationships/notesSlide" Target="/ppt/notesSlides/notesSlide23.xml" Id="Rf028aecac5aa420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b9bb69a934e25" /><Relationship Type="http://schemas.openxmlformats.org/officeDocument/2006/relationships/notesSlide" Target="/ppt/notesSlides/notesSlide24.xml" Id="R77db3548bf1b4bc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f656fc071430c" /><Relationship Type="http://schemas.openxmlformats.org/officeDocument/2006/relationships/notesSlide" Target="/ppt/notesSlides/notesSlide25.xml" Id="Rcfe4b1e7989a412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PUMP-009 points</c:v>
          </c:tx>
          <c:spPr>
            <a:solidFill xmlns:a="http://schemas.openxmlformats.org/drawingml/2006/main">
              <a:srgbClr val="00A6D6"/>
            </a:solidFill>
          </c:spPr>
          <c:cat>
            <c:strLit>
              <c:ptCount val="5"/>
              <c:pt idx="0">
                <c:v>Age</c:v>
              </c:pt>
              <c:pt idx="1">
                <c:v>MAUDE trend</c:v>
              </c:pt>
              <c:pt idx="2">
                <c:v>Severity</c:v>
              </c:pt>
              <c:pt idx="3">
                <c:v>Recall</c:v>
              </c:pt>
              <c:pt idx="4">
                <c:v>Maintenance</c:v>
              </c:pt>
            </c:strLit>
          </c:cat>
          <c:val>
            <c:numLit>
              <c:formatCode>General</c:formatCode>
              <c:ptCount val="5"/>
              <c:pt idx="0">
                <c:v>18</c:v>
              </c:pt>
              <c:pt idx="1">
                <c:v>25</c:v>
              </c:pt>
              <c:pt idx="2">
                <c:v>8</c:v>
              </c:pt>
              <c:pt idx="3">
                <c:v>15</c:v>
              </c:pt>
              <c:pt idx="4">
                <c:v>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711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6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37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AB7C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7111F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Maximum points</c:v>
          </c:tx>
          <c:spPr>
            <a:solidFill xmlns:a="http://schemas.openxmlformats.org/drawingml/2006/main">
              <a:srgbClr val="00A6D6"/>
            </a:solidFill>
          </c:spPr>
          <c:cat>
            <c:strLit>
              <c:ptCount val="5"/>
              <c:pt idx="0">
                <c:v>Age / service life</c:v>
              </c:pt>
              <c:pt idx="1">
                <c:v>MAUDE trend</c:v>
              </c:pt>
              <c:pt idx="2">
                <c:v>Event severity</c:v>
              </c:pt>
              <c:pt idx="3">
                <c:v>Recall exposure</c:v>
              </c:pt>
              <c:pt idx="4">
                <c:v>Maintenance recurrence</c:v>
              </c:pt>
            </c:strLit>
          </c:cat>
          <c:val>
            <c:numLit>
              <c:formatCode>General</c:formatCode>
              <c:ptCount val="5"/>
              <c:pt idx="0">
                <c:v>30</c:v>
              </c:pt>
              <c:pt idx="1">
                <c:v>25</c:v>
              </c:pt>
              <c:pt idx="2">
                <c:v>20</c:v>
              </c:pt>
              <c:pt idx="3">
                <c:v>15</c:v>
              </c:pt>
              <c:pt idx="4">
                <c:v>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711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6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37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AB7C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7111F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8935aa87b4cd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49AA7-CB39-433C-8F0A-6BD78D86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7111F">
                  <a:alpha val="0"/>
                </a:srgbClr>
              </a:gs>
            </a:gsLst>
            <a:lin ang="0"/>
          </a:gradFill>
          <a:ln xmlns:a="http://schemas.openxmlformats.org/drawingml/2006/main" w="0">
            <a:gradFill>
              <a:gsLst>
                <a:gs pos="0">
                  <a:srgbClr val="07111F"/>
                </a:gs>
                <a:gs pos="100000">
                  <a:srgbClr val="07111F">
                    <a:alpha val="0"/>
                  </a:srgbClr>
                </a:gs>
              </a:gsLst>
              <a:lin ang="0"/>
            </a:gra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90FAC-15A0-49D8-AA34-D35B0589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rPr>
              <a:t>TECHNICAL WORKSHOP · 60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4E897-FA74-41FC-849D-C951984C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590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Agents in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Healthcare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A01AE-1CFC-4A34-9B30-E5F6DF1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5125"/>
            <a:ext cx="5715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Asset Lifecycle Management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0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 Medical Devices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54F97-53D1-43C3-B765-CF582A27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552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7E6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D7E6EF"/>
                </a:solidFill>
                <a:latin typeface="Helvetica Neue"/>
                <a:ea typeface="Helvetica Neue"/>
                <a:cs typeface="Helvetica Neue"/>
              </a:rPr>
              <a:t>Query-driven Deep Agent · AI-Q · OpenShell · openFDA MAUDE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63D5A-7A36-4CE3-A314-83C85A80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3979C-BEC2-4E80-A9E3-D5ADFB2A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006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Workshop instructor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A2BBE-850D-48CB-95C7-251D40A4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1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AFC1CC"/>
                </a:solidFill>
                <a:latin typeface="Helvetica Neue"/>
                <a:ea typeface="Helvetica Neue"/>
                <a:cs typeface="Helvetica Neue"/>
              </a:rPr>
              <a:t>Workshop prototype · fictional hospital inventory</a:t>
            </a:r>
          </a:p>
        </p:txBody>
      </p:sp>
    </p:spTree>
    <p:extLst>
      <p:ext uri="{BB962C8B-B14F-4D97-AF65-F5344CB8AC3E}">
        <p14:creationId xmlns:p14="http://schemas.microsoft.com/office/powerpoint/2010/main" val="234019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F06703-899A-45EA-9093-655B9A45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rPr>
              <a:t>WORKSHOP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D5D77-ACD9-45B4-AB13-6A2FBB4F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question forces the system to show its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CD6C4-A880-404E-B18D-E0BAACCE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3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69B12-DEA4-42C2-A9DF-A26ADF93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FA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FA7B8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76439-9F0F-4C52-82A9-2B43D14D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FA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FA7B8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74ACB-FADC-4165-98FA-1A60BC18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10553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“With $50,000, which ICU devices should we replace first—and can we prove why?”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E7C97-58E6-4576-9D53-A43118B0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30480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02B3E"/>
          </a:solidFill>
          <a:ln xmlns:a="http://schemas.openxmlformats.org/drawingml/2006/main" w="9525">
            <a:solidFill>
              <a:srgbClr val="3153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85836-86F8-4416-A406-C6B146CD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rPr>
              <a:t>REASON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9F7F2-4B48-42F6-BC23-3EAAC314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Join local asset history with public regulatory signals.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FBC36-226F-46C7-A984-9BB8DB89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409950"/>
            <a:ext cx="30480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2354A"/>
          </a:solidFill>
          <a:ln xmlns:a="http://schemas.openxmlformats.org/drawingml/2006/main" w="9525">
            <a:solidFill>
              <a:srgbClr val="3153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4CF29-2195-4306-8EA8-7D6AD279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6385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rPr>
              <a:t>EXECUTE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2AD8C-579E-4CED-892F-58820111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9575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Generate calculations and plots inside an isolated workspace.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04A84-0641-4059-8E75-9F8097AB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09950"/>
            <a:ext cx="30480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02B3E"/>
          </a:solidFill>
          <a:ln xmlns:a="http://schemas.openxmlformats.org/drawingml/2006/main" w="9525">
            <a:solidFill>
              <a:srgbClr val="3153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0652D-7F64-4A6E-AB16-43188F10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385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2213B-9D0F-4C05-831D-62F08F28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9575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Return sources, thresholds, tool traces, and artifacts.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EEB7C-E40D-4759-BB4E-5F1E3591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57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52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BFD3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BFD3DE"/>
                </a:solidFill>
                <a:latin typeface="Helvetica Neue"/>
                <a:ea typeface="Helvetica Neue"/>
                <a:cs typeface="Helvetica Neue"/>
              </a:rPr>
              <a:t>The LLM coordinates evidence. It does not become the risk formula, the database, or the security boundary.</a:t>
            </a:r>
          </a:p>
        </p:txBody>
      </p:sp>
    </p:spTree>
    <p:extLst>
      <p:ext uri="{BB962C8B-B14F-4D97-AF65-F5344CB8AC3E}">
        <p14:creationId xmlns:p14="http://schemas.microsoft.com/office/powerpoint/2010/main" val="10368501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1FC10-9A61-4964-B87F-DC1DC73E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THE OPERATING REALITY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7B3FF-5403-4FD1-AE06-BDBCFF4F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871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Healthcare ALM is a portfolio problem before it is an AI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51CD5-325B-4892-A86B-64A610A5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BA90D-7CA9-42DA-B3FF-45DAFF49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550C5-B065-4941-9BEF-70FFF0CF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5DEC0-6654-4AD2-9B0B-74022CEC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9,924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096DF-2818-487A-B7AB-47A204C3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devices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2797F-7574-4E8E-B818-03C3E4BB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One four-campus tertiary-hospital study—not a universal benchmark.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007AD-A8F6-4B35-8666-3BBBC9D6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12A5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 i="0">
                <a:solidFill>
                  <a:srgbClr val="12A594"/>
                </a:solidFill>
                <a:latin typeface="Helvetica Neue"/>
                <a:ea typeface="Helvetica Neue"/>
                <a:cs typeface="Helvetica Neue"/>
              </a:rPr>
              <a:t>&gt;2M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DD61C-E154-4DD9-863D-A9BF2622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193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FDA reports / year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CB7F0-EBB0-4615-ABFE-EF4D1DA9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Suspected device-associated deaths, serious injuries, and malfunctions.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D88D15-9787-4EE3-B12E-589E9903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811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F0A20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 i="0">
                <a:solidFill>
                  <a:srgbClr val="F0A20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03FEE-CBC8-481B-A25B-E5A8C273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193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identity spine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84088-5FFF-4E23-A89B-28794C5F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908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Every service event, recall, contract, and budget decision must resolve to an asset.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BB337-39F5-438E-803B-4CF4A940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1087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3D20F-1324-4FAA-8A48-A0D7B37A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Scale multiplies three kinds of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41B02-4DCE-43F9-8D98-1CC720DA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877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 algn="l">
              <a:spcAft>
                <a:spcPts val="8"/>
              </a:spcAft>
              <a:buChar char="•"/>
              <a:def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Operational:</a:t>
            </a:r>
            <a:r>
              <a: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 missed PM, downtime, loaner shortages</a:t>
            </a:r>
          </a:p>
          <a:p xmlns:a="http://schemas.openxmlformats.org/drawingml/2006/main">
            <a:pPr marL="26" indent="-14" algn="l">
              <a:spcAft>
                <a:spcPts val="8"/>
              </a:spcAft>
              <a:buChar char="•"/>
              <a:def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Clinical:</a:t>
            </a:r>
            <a:r>
              <a: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 failure of high-risk or life-support equipment</a:t>
            </a:r>
          </a:p>
          <a:p xmlns:a="http://schemas.openxmlformats.org/drawingml/2006/main">
            <a:pPr marL="26" indent="-14" algn="l">
              <a:spcAft>
                <a:spcPts val="8"/>
              </a:spcAft>
              <a:buChar char="•"/>
              <a:def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Capital:</a:t>
            </a:r>
            <a:r>
              <a: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 replacement timing, service contracts, and vendor concentration</a:t>
            </a:r>
          </a:p>
        </p:txBody>
      </p:sp>
    </p:spTree>
    <p:extLst>
      <p:ext uri="{BB962C8B-B14F-4D97-AF65-F5344CB8AC3E}">
        <p14:creationId xmlns:p14="http://schemas.microsoft.com/office/powerpoint/2010/main" val="3400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F4324D-A5C6-463E-B185-5A58A8E6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DATA 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D8EB5-028E-460E-B9E2-2F6DA48A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Retirement evidence lives across hospital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1F7B4-6538-40B9-B750-6CFC9C0E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91A98-7C2C-4F56-8EF9-453D8DB1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8E529-9829-49A0-BA8A-16490A8B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0F21F-3257-4BA8-A186-490D4CD1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2095500" cy="375285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3EF53-E7AD-488A-BB9C-29277563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A6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D2A4B-7821-469D-B0A5-BBDE7CF0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CMMS / 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0F2EE-8FF4-4B81-9680-7BBBCDC5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7907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asset ID · serial / UDI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manufacturer · model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install date · service life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work orders · PM · downtime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BE9A3-1504-4CBA-88BB-D5A15975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524000"/>
            <a:ext cx="2095500" cy="375285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7FD42-A0EE-45DA-A5A9-37E27CAF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52400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594"/>
          </a:solidFill>
          <a:ln xmlns:a="http://schemas.openxmlformats.org/drawingml/2006/main" w="0">
            <a:solidFill>
              <a:srgbClr val="12A59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1C9D6-2209-49F4-8F41-95BCFB2A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A5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2A594"/>
                </a:solidFill>
                <a:latin typeface="Helvetica Neue"/>
                <a:ea typeface="Helvetica Neue"/>
                <a:cs typeface="Helvetica Neue"/>
              </a:rPr>
              <a:t>ERP / PROCUREMENT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BB9F7-A1C7-465D-9F94-C7D2178A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17907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acquisition cost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vendor · contract · parts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depreciation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capital plan · purchase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F304B7-7A6D-437E-B114-4EBA1CEA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524000"/>
            <a:ext cx="2095500" cy="375285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650F8-5EB8-46E8-9192-202D5159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52400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202"/>
          </a:solidFill>
          <a:ln xmlns:a="http://schemas.openxmlformats.org/drawingml/2006/main" w="0">
            <a:solidFill>
              <a:srgbClr val="F0A20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12710-2ECB-4834-A9A8-2708CD39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6690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0A20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0A202"/>
                </a:solidFill>
                <a:latin typeface="Helvetica Neue"/>
                <a:ea typeface="Helvetica Neue"/>
                <a:cs typeface="Helvetica Neue"/>
              </a:rPr>
              <a:t>RTLS / IoT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05253-AE7C-4D4A-8167-7B909841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71750"/>
            <a:ext cx="17907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current location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utilization hours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alarms · telemetry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connectivity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F2366C-A999-46FE-A6C4-FD81792D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24000"/>
            <a:ext cx="2095500" cy="375285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5BAE03-7F65-4266-9A9A-EBF457A0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2400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50"/>
          </a:solidFill>
          <a:ln xmlns:a="http://schemas.openxmlformats.org/drawingml/2006/main" w="0">
            <a:solidFill>
              <a:srgbClr val="D6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9B5376-FB1A-4BFD-86FB-8C997B14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6690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645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D64550"/>
                </a:solidFill>
                <a:latin typeface="Helvetica Neue"/>
                <a:ea typeface="Helvetica Neue"/>
                <a:cs typeface="Helvetica Neue"/>
              </a:rPr>
              <a:t>CLINICAL / 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08B392-5367-4D45-9E3B-4AB47FCC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17907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department · modality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clinical criticality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workflow context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loaner / backup capacity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E948B3-6119-4D7A-9722-31CC6754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24000"/>
            <a:ext cx="2095500" cy="375285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5DAFA5-0FA4-419E-9547-9DFFD0D9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2400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DAA6F1-A6E1-44DC-B4EB-D5449DF4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6690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REGULATORY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DE413E-6812-4FED-9D5A-CD388E55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17907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FDA product code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MAUDE reports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recalls · classifications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manufacturer corrections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0C750E-6F58-49D4-93EF-1C2CF0F6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No single source contains “replace this unit now.” The recommendation is a governed join across evidence with different semantics.</a:t>
            </a:r>
          </a:p>
        </p:txBody>
      </p:sp>
    </p:spTree>
    <p:extLst>
      <p:ext uri="{BB962C8B-B14F-4D97-AF65-F5344CB8AC3E}">
        <p14:creationId xmlns:p14="http://schemas.microsoft.com/office/powerpoint/2010/main" val="3249009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BEAC07-E941-4D6A-9142-675A3273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THE JOIN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D7148-CE7E-48E7-A24A-0B8ABCF1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Identity resolution controls every downstream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C2457-3227-45AE-AE49-46ED6CE6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3C143-9DA5-48D6-A67D-1B822A97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D1366-CE4C-45E7-9FC1-4FE0298A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8A262-BCA9-452B-ADD3-0952539D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6192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F6BC1-6C82-4F1E-B6B4-5736D9D4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Asset 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1F6E1-6260-40E9-B2C9-9B02F159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33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51F9F-1C1B-43D6-BD40-5CB2C943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18097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6B902-90D7-4C00-8EE7-F02524EE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90750"/>
            <a:ext cx="158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Serial / UDI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48445-965B-4F2F-96D0-AD213096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33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3169C-9057-4BB5-88C6-DF5DB59B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95500"/>
            <a:ext cx="23812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A8E4F3"/>
          </a:solidFill>
          <a:ln xmlns:a="http://schemas.openxmlformats.org/drawingml/2006/main" w="9525">
            <a:solidFill>
              <a:srgbClr val="00A6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02722-9E9C-45B7-9C82-31217141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907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Manufacturer +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3F6A5-2B80-435F-AE95-89F68728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33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412A82-F7F6-4360-B503-E4991CCC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20002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A94F4-FE12-44B3-B097-0095B79E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1771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FDA product 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2C491D-419D-4410-8BE4-49DFEAD0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33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C1BA8-882E-4A6C-B55C-48814043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95500"/>
            <a:ext cx="14287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35914-0B5C-4C32-A53A-C23167DE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90750"/>
            <a:ext cx="1200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Public evidence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1123950" y="3676650"/>
          <a:ext xmlns:a="http://schemas.openxmlformats.org/drawingml/2006/main" cx="9944100" cy="2057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1809750"/>
                <a:gridCol w="4895850"/>
              </a:tblGrid>
              <a:tr h="41148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MATCH BASIS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CONFIDENCE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 BEHAVIOR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manufacturer + exact model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high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May use model-level public signals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manufacturer + brand tokens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medium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Explain normalization and ambiguity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 code only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low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Cap public-signal contribution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serial / unit match absent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never unit-level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causal attribution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3366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7B88E-1328-445E-ACB5-6957B6C8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FDA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91962-6757-4CB9-A216-52AC98B0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15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MAUDE is a passive post-market signal source—not a device registry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30594-233B-4E2A-B7E0-329A556A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DC0BF-F5FA-488F-BC69-2D09635E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14393-7188-442F-A8AF-731DCE3F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B3C1C-E766-4B00-9694-1EE60CEF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5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Manufacturer and User Facility Device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C53EC-4228-42C4-AAD7-24DB98F3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7437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 algn="l">
              <a:spcAft>
                <a:spcPts val="12"/>
              </a:spcAft>
              <a:buChar char="•"/>
              <a:def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Medical Device Reports covering deaths, serious injuries, malfunctions, and other reportable events</a:t>
            </a:r>
          </a:p>
          <a:p xmlns:a="http://schemas.openxmlformats.org/drawingml/2006/main">
            <a:pPr marL="26" indent="-14" algn="l">
              <a:spcAft>
                <a:spcPts val="12"/>
              </a:spcAft>
              <a:buChar char="•"/>
              <a:def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Mandatory reporters: manufacturers, importers, and device user facilities</a:t>
            </a:r>
          </a:p>
          <a:p xmlns:a="http://schemas.openxmlformats.org/drawingml/2006/main">
            <a:pPr marL="26" indent="-14" algn="l">
              <a:spcAft>
                <a:spcPts val="12"/>
              </a:spcAft>
              <a:buChar char="•"/>
              <a:def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Voluntary reporters: clinicians, patients, consumers, and others</a:t>
            </a:r>
          </a:p>
          <a:p xmlns:a="http://schemas.openxmlformats.org/drawingml/2006/main">
            <a:pPr marL="26" indent="-14" algn="l">
              <a:spcAft>
                <a:spcPts val="12"/>
              </a:spcAft>
              <a:buChar char="•"/>
              <a:def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Public MAUDE search exposes the most recent ten years; downloadable files extend farther back</a:t>
            </a:r>
          </a:p>
          <a:p xmlns:a="http://schemas.openxmlformats.org/drawingml/2006/main">
            <a:pPr marL="26" indent="-14" algn="l">
              <a:spcAft>
                <a:spcPts val="12"/>
              </a:spcAft>
              <a:buChar char="•"/>
              <a:def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openFDA converts source records to machine-readable JSON and updates the API on its own cadence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2423C-CEBD-4C1E-BC69-F1E59B87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62100"/>
            <a:ext cx="3181350" cy="342900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8CDCB-0362-49D8-99EA-3ACC82EB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52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rPr>
              <a:t>&gt;2M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4EC118-3D9F-4B68-88D7-FAED36F2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146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reports received</a:t>
            </a:r>
          </a:p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by FDA each year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BE721-3CC0-4830-94E8-4A2EAF2F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0525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3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F5F7D-5A5B-4568-AF26-C61EA554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100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C4D5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C4D5DF"/>
                </a:solidFill>
                <a:latin typeface="Helvetica Neue"/>
                <a:ea typeface="Helvetica Neue"/>
                <a:cs typeface="Helvetica Neue"/>
              </a:rPr>
              <a:t>Signal volume is not evidence quality.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D4445-E949-46CD-9EB3-8EFE8706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D645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D64550"/>
                </a:solidFill>
                <a:latin typeface="Helvetica Neue"/>
                <a:ea typeface="Helvetica Neue"/>
                <a:cs typeface="Helvetica Neue"/>
              </a:rPr>
              <a:t>Use MAUDE to ask where to look—not to declare what happened to a specific hospital unit.</a:t>
            </a:r>
          </a:p>
        </p:txBody>
      </p:sp>
    </p:spTree>
    <p:extLst>
      <p:ext uri="{BB962C8B-B14F-4D97-AF65-F5344CB8AC3E}">
        <p14:creationId xmlns:p14="http://schemas.microsoft.com/office/powerpoint/2010/main" val="12970801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837853-F2FC-4365-812B-FCBDD3FC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FDA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7C9B2-DA77-4E82-BDBF-146A5922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 MAUDE event is nested—not a failure-rate row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88102-5E6F-4757-B2F3-113AFE5E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1D3EF-F9DA-4F2A-8938-A44EEC53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AB9F3-0631-4B46-884F-0A61017D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25FA8-84F3-4167-83B5-F8FD3104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619750" cy="4552950"/>
          </a:xfrm>
          <a:prstGeom xmlns:a="http://schemas.openxmlformats.org/drawingml/2006/main" prst="roundRect">
            <a:avLst>
              <a:gd name="adj" fmla="val 209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576FF-566A-418C-8616-139537B2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5200650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GET /device/event.json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?search=device.device_report_product_code:FRN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&amp;limit=1000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"mdr_report_key": "...",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"event_type": "Malfunction",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"date_of_event": "20260527",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"device": [{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  "manufacturer_d_name": "...",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  "brand_name": "...",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  "model_number": "...",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  "device_report_product_code": "FRN"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}],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"patient": [...],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"mdr_text": [...]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DDAFC-820C-4A0B-9C77-88028C98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24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876EB-4CF7-418F-9C39-8D2A2EFA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049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report key · event type · dates · 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AF95B-2E96-4E78-874C-A84D0C03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24075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5F819-80C6-401E-A193-CB728AAF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0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DEVICE ARRAY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DFDA1-0FF2-4DAF-B415-CEB36DFB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manufacturer · brand · model · product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A6EB2-536C-4C7C-A2DE-3685D968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00375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15831-839C-4B11-BBB2-C086BEEA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76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PATIENT ARRAY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88A8C-9352-469A-8EB5-5F9D6C5B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575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outcomes and reported demographics when available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B9151-439A-4B64-B39B-AB3ABCAF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76675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321D7-19D0-407D-951E-B7BD7C63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52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MDR TEXT ARRAY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D5A8E-7A3F-4D1A-9E4E-48CF40B5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338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event narrative and manufacturer narrative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391F5D-8FC1-4ED7-BA01-87F91140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52975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6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B21A47-1AD2-47AD-88DF-36893C65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029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OPENFDA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02FDB-1729-4CC5-BD98-4C063EF9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101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annotations and harmonized device metadata</a:t>
            </a:r>
          </a:p>
        </p:txBody>
      </p:sp>
    </p:spTree>
    <p:extLst>
      <p:ext uri="{BB962C8B-B14F-4D97-AF65-F5344CB8AC3E}">
        <p14:creationId xmlns:p14="http://schemas.microsoft.com/office/powerpoint/2010/main" val="6192392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52F94-1F6F-4950-9800-5CCBE933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EVIDENCE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29782-8BC4-4540-A647-5997F81E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1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MAUDE should trigger a better question—not false 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A037D-B341-418B-A986-82632947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FC328-1852-4868-B2A7-8F30CCD4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E4234-1246-425F-BC59-05B979AB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EA18B-D384-456D-9B82-1D310AC6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88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8864B"/>
                </a:solidFill>
                <a:latin typeface="Helvetica Neue"/>
                <a:ea typeface="Helvetica Neue"/>
                <a:cs typeface="Helvetica Neue"/>
              </a:rPr>
              <a:t>MAUDE can support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AA7D9-13ED-49D0-8DBE-2BF41133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4857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7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Model/product-level signal detection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7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Trend exploration across reporting windows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7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Recall and problem-code follow-up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7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Evidence for a human review queue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93E3B-DFD9-4B99-A2CA-BEC1D7E1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430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D645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D64550"/>
                </a:solidFill>
                <a:latin typeface="Helvetica Neue"/>
                <a:ea typeface="Helvetica Neue"/>
                <a:cs typeface="Helvetica Neue"/>
              </a:rPr>
              <a:t>MAUDE cannot establish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1948D-97E4-4FDE-AFC4-BFD6D55C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4857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7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That a hospital asset caused a report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7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Incidence or failure rate without exposure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7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Comparative safety from report counts alone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7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An autonomous order to remove equipment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B03ED-D637-4F37-BFF6-DCEF6849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0668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2C4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567AE-4221-464D-8845-AFFB2FDC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55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955F00"/>
                </a:solidFill>
                <a:latin typeface="Helvetica Neue"/>
                <a:ea typeface="Helvetica Neue"/>
                <a:cs typeface="Helvetica Neue"/>
              </a:rPr>
              <a:t>Q07 guardrail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1123F-EE1D-41ED-AA4B-9E60B309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10150"/>
            <a:ext cx="842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“Did PUMP-009 cause the MAUDE events?” → No unit linkage + no denominator. Return model-level signals and explain the missing evidence.</a:t>
            </a:r>
          </a:p>
        </p:txBody>
      </p:sp>
    </p:spTree>
    <p:extLst>
      <p:ext uri="{BB962C8B-B14F-4D97-AF65-F5344CB8AC3E}">
        <p14:creationId xmlns:p14="http://schemas.microsoft.com/office/powerpoint/2010/main" val="20244672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B3B1A-4DC2-4AC4-9FE9-8DA1B7F1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WORKSHOP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1C12E-EC5C-45ED-A959-0F8D92C0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Synthetic data makes the workshop reproducible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A8D00-F9B5-4194-9D6D-FA9789D1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B3654-54C4-43B9-8395-04C1B76C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BAE55-25A9-4674-B641-35025665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AB8FF-B62B-428F-8C82-C317B00D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786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Why not use a real hospital CMMS export?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5F6D2-548A-4412-88F5-F7FEC38E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8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Privacy and contractual constraints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8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Inconsistent schemas and missing identifiers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8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No stable answer key for evaluation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8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Hard to distribute in a public workshop repository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3586D-D814-4E65-95BC-8207985A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6685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3863C-9C52-4DE4-B492-7DB97555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52600"/>
            <a:ext cx="436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92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What the synthetic data preserves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81E04-C4A8-4B5C-BFE2-0FA9AA64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2481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Realistic relational joins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Age, utilization, PM, downtime, and maintenance recurrence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Manufacturer/model/product-code match ambiguity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Known risk-score and budget outcomes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Enough variation for code-generated analytics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3668A-F572-42BE-B306-A05A6A8D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1051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D645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D64550"/>
                </a:solidFill>
                <a:latin typeface="Helvetica Neue"/>
                <a:ea typeface="Helvetica Neue"/>
                <a:cs typeface="Helvetica Neue"/>
              </a:rPr>
              <a:t>Workshop truth ≠ production truth</a:t>
            </a:r>
          </a:p>
        </p:txBody>
      </p:sp>
    </p:spTree>
    <p:extLst>
      <p:ext uri="{BB962C8B-B14F-4D97-AF65-F5344CB8AC3E}">
        <p14:creationId xmlns:p14="http://schemas.microsoft.com/office/powerpoint/2010/main" val="19255268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A23F71-5FE3-4908-9D85-BAB234AC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WORKSHOP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A1313-C786-4082-9999-64551CB7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637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The mock fleet is small, but the decision graph is complete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505A0-279D-453A-A471-1F74A29A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AA96D-31D3-4793-8004-47F602B6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CF94B-9C23-49C3-BFB5-77F17407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6F6E7-D65F-4C78-94EC-4AC56777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2C494-7306-45F2-BE6C-FF9CD0D4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assets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AC880-C4B9-494E-B8CD-A78C4367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Five manufacturers across four departments.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EA957-EAE7-43E8-8896-31BC005A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4287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2A5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i="0">
                <a:solidFill>
                  <a:srgbClr val="12A594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5BB33-1935-4999-880D-C595F929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669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work orders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E5F4E-5520-406B-98EE-DD10569F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384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Corrective maintenance events with downtime.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56230-A5BF-4995-A56C-6B17860A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287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0A20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0A202"/>
                </a:solidFill>
                <a:latin typeface="Helvetica Neue"/>
                <a:ea typeface="Helvetica Neue"/>
                <a:cs typeface="Helvetica Neue"/>
              </a:rPr>
              <a:t>$295.6K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A95F1-AA9D-4832-B8A8-C340C8C9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669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fleet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321C0-3A72-480A-AAC5-C1B78257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384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Acquisition cost used as replacement estimate.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13FB75-3FDC-4D2A-8383-6F9D2CB4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287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B34C5-5C22-4AFE-B0FB-67F38B69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669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FDA product 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1A217-34C3-44BC-BBA4-2036248D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384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Infusion pump category used for MAUDE and recall retrieval.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590550" y="3752850"/>
          <a:ext xmlns:a="http://schemas.openxmlformats.org/drawingml/2006/main" cx="110109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524000"/>
                <a:gridCol w="5429250"/>
                <a:gridCol w="2247900"/>
              </a:tblGrid>
              <a:tr h="4381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TABLE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KEY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FIELDS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inventory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asset_id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manufacturer · model · department · install date · expected life · cost · utilization · PM · downtime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asset context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maintenance_events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event_id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asset_id · date · type · description · downtime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recurrence evidence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MAUDE (normalized)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mdr key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manufacturer · model · product code · date · event type · source URL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public signal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recalls (normalized)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 #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firm · model text · status · reason · source URL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regulatory grounding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0008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DBB9A-8DB9-40C6-B516-814417E4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255B9-5D76-484A-AA7E-886720D0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835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PUMP-009 combines strong signals without pretending they are the same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AC83F-42C3-4C16-AEE4-44AD36F7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D66B9-F082-4906-B521-E7DFE855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268F5-C51B-4120-88E3-1A54D803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871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000500"/>
                <a:gridCol w="5086350"/>
              </a:tblGrid>
              <a:tr h="4667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OBSERVATION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SEMANTIC LIMIT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inventory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7.5 years old / 8-year expected life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Fictional workshop record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maintenance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corrective count · 15 downtime days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a clinical incident rate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MAUDE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 model-level reports; 11 in recent window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unit attribution or exposure denominator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95382 · Open, Classified · air-in-line algorithm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Manufacturer/model match; human review required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Policy output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Risk score 74 → retire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Workshop policy threshold, not an FDA decision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90550" y="4476750"/>
          <a:ext xmlns:a="http://schemas.openxmlformats.org/drawingml/2006/main" cx="7086600" cy="1695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16947b0e324f4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68B53-3029-4BD5-931C-CF19735D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91050"/>
            <a:ext cx="3028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D3FAC-CE20-4DE1-9F0F-A0811F3B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38700"/>
            <a:ext cx="253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74 / 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EC0EC-96B7-4132-9933-04EA209E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054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rPr>
              <a:t>RETIRE · HIGH CONFIDENCE</a:t>
            </a:r>
          </a:p>
        </p:txBody>
      </p:sp>
    </p:spTree>
    <p:extLst>
      <p:ext uri="{BB962C8B-B14F-4D97-AF65-F5344CB8AC3E}">
        <p14:creationId xmlns:p14="http://schemas.microsoft.com/office/powerpoint/2010/main" val="8830993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9C2A03-C8AC-4095-A2F3-5D24D2E6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rPr>
              <a:t>OVERALL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EC305-DCAF-49F6-911E-44FCDA87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641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architecture is one agent surrounded by explicit trust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82AE3-74D6-4563-BB27-5B29F17E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3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24D6C-27FF-48C4-800B-5116D664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FA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FA7B8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48DDB-CE96-479A-93EA-5A8A0C70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FA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FA7B8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4B42F-E9CA-4361-AD23-A4FEE737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0350"/>
            <a:ext cx="14287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18374B"/>
          </a:solidFill>
          <a:ln xmlns:a="http://schemas.openxmlformats.org/drawingml/2006/main" w="9525">
            <a:solidFill>
              <a:srgbClr val="3C60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19D21-F931-4BB9-81EB-FE913867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120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User query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6A2BA-BDB6-4D7A-A290-BE18337B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099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BAFB0-6DEB-43AC-8210-09424777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95550"/>
            <a:ext cx="2286000" cy="1485900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00A6D6"/>
          </a:solidFill>
          <a:ln xmlns:a="http://schemas.openxmlformats.org/drawingml/2006/main" w="9525">
            <a:solidFill>
              <a:srgbClr val="00A6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8F566-5655-46FA-8CC7-8EB99189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90800"/>
            <a:ext cx="2057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Nemotron Ultra</a:t>
            </a:r>
          </a:p>
          <a:p xmlns:a="http://schemas.openxmlformats.org/drawingml/2006/main">
            <a:pPr algn="ctr">
              <a:defRPr sz="17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AI-Q Deep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828E0-EE51-4574-8381-F3D03A9A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99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4C176-2A47-4F1A-ACFA-AB003144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00200"/>
            <a:ext cx="1809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6364A"/>
          </a:solidFill>
          <a:ln xmlns:a="http://schemas.openxmlformats.org/drawingml/2006/main" w="9525">
            <a:solidFill>
              <a:srgbClr val="3B5B7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1B9EC-2773-4EE3-B938-9830FDD5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954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Hospital 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045F2-1EA8-4E9D-AC1D-7E1F9C5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81250"/>
            <a:ext cx="1809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6364A"/>
          </a:solidFill>
          <a:ln xmlns:a="http://schemas.openxmlformats.org/drawingml/2006/main" w="9525">
            <a:solidFill>
              <a:srgbClr val="3B5B7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46967-74BE-4FCF-B7A2-1AF7CF95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765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MAUDE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D620D-D1B7-42CC-9D0D-26AEB7F6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62300"/>
            <a:ext cx="1809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6364A"/>
          </a:solidFill>
          <a:ln xmlns:a="http://schemas.openxmlformats.org/drawingml/2006/main" w="9525">
            <a:solidFill>
              <a:srgbClr val="3B5B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74531-5AB3-436B-A2A4-03292F73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575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Recall MCP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5D0D7C-0F82-47F7-8FE4-D90BF3C6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43350"/>
            <a:ext cx="1809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6364A"/>
          </a:solidFill>
          <a:ln xmlns:a="http://schemas.openxmlformats.org/drawingml/2006/main" w="9525">
            <a:solidFill>
              <a:srgbClr val="3B5B7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435BD0-90A1-4D43-B2B6-6C8F8A4A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386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Risk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E8C08F-2EE8-4E5E-A4EB-99901FC5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724400"/>
            <a:ext cx="1809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6364A"/>
          </a:solidFill>
          <a:ln xmlns:a="http://schemas.openxmlformats.org/drawingml/2006/main" w="9525">
            <a:solidFill>
              <a:srgbClr val="3B5B7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1B8610-EB72-4C9C-AE22-BFC797A2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8196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Budget 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7396D-2101-4ACB-A289-F8B93F5E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099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100F34-710A-4963-9A74-AEF97296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1905000" cy="17526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1B3F51"/>
          </a:solidFill>
          <a:ln xmlns:a="http://schemas.openxmlformats.org/drawingml/2006/main" w="9525">
            <a:solidFill>
              <a:srgbClr val="12A59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77C6AF-784E-439E-BECB-188AA2D0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57450"/>
            <a:ext cx="16764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OpenShell</a:t>
            </a:r>
          </a:p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write_file · execute</a:t>
            </a:r>
          </a:p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CSV · PNG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6DF13C-2754-4FED-92D5-5A3696C3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0EB1F0-E46D-4689-A73C-31AD5279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71750"/>
            <a:ext cx="182880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6364A"/>
          </a:solidFill>
          <a:ln xmlns:a="http://schemas.openxmlformats.org/drawingml/2006/main" w="9525">
            <a:solidFill>
              <a:srgbClr val="3B5B7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DB6236-318C-4FE2-B8AB-9F0D8F66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67000"/>
            <a:ext cx="1600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Answer + evidence</a:t>
            </a:r>
          </a:p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run.json + artifacts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B66E29-6014-4EFD-801E-E639B8AF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24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9CC0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9CC0D2"/>
                </a:solidFill>
                <a:latin typeface="Helvetica Neue"/>
                <a:ea typeface="Helvetica Neue"/>
                <a:cs typeface="Helvetica Neue"/>
              </a:rPr>
              <a:t>probabilistic reasoning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A63D6F-908A-4D88-B678-A4605582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7150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9CC0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9CC0D2"/>
                </a:solidFill>
                <a:latin typeface="Helvetica Neue"/>
                <a:ea typeface="Helvetica Neue"/>
                <a:cs typeface="Helvetica Neue"/>
              </a:rPr>
              <a:t>typed domain functions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176C8A-C311-4401-BFC3-39AB747A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24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9CC0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9CC0D2"/>
                </a:solidFill>
                <a:latin typeface="Helvetica Neue"/>
                <a:ea typeface="Helvetica Neue"/>
                <a:cs typeface="Helvetica Neue"/>
              </a:rPr>
              <a:t>ephemeral execution</a:t>
            </a:r>
          </a:p>
        </p:txBody>
      </p:sp>
    </p:spTree>
    <p:extLst>
      <p:ext uri="{BB962C8B-B14F-4D97-AF65-F5344CB8AC3E}">
        <p14:creationId xmlns:p14="http://schemas.microsoft.com/office/powerpoint/2010/main" val="7263826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59F57C-8BE0-4954-BDD9-74783701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AGENT CONTROL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AF77D-D281-4B71-B3CD-E2C26A46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471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The model selects tools dynamically; the workflow is not a fixed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04BB5-95E4-4916-94D2-EE5EFF25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C883E-2C81-47BA-9EBC-A790D45E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5F161-A17B-49C9-82E0-1C8522A9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49C3E-DD41-4D43-B943-63A211AB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051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6A2E3-B576-4C48-9208-7BF9B1AE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866900" cy="23431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1076A-096A-4BFB-A72A-C0EA8860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1200B-555D-424C-ADB0-C01817B7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Inspect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155C5-1D08-46BD-8700-E9529B89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485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Read schema and tool descriptions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F61E2-5B2E-4FC6-86E3-5285B14D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051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C0303-243B-4349-89E0-68574A58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66900"/>
            <a:ext cx="1866900" cy="23431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802ED-83C3-4845-AFD0-18F73078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574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DBBAE-7AB5-4E5E-B295-9EA4D764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5EF2E7-7F7B-49CB-9361-3C4EC521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38500"/>
            <a:ext cx="1485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Choose the smallest evidence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F94A8-8850-4DF2-850D-F5A45D25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2BBDC-CE05-48F2-B6EE-8609BF4A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866900" cy="23431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DDF5FB"/>
          </a:solidFill>
          <a:ln xmlns:a="http://schemas.openxmlformats.org/drawingml/2006/main" w="9525">
            <a:solidFill>
              <a:srgbClr val="00A6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5AAA6-A54F-4F8A-A6E0-8BA3575C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574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BACDC-3CBA-4ACF-9B6A-C7A76A25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051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6022FA-865C-4386-A5FE-75FF59B2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38500"/>
            <a:ext cx="1485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Call SQL, FDA, score, plan, or sandbox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A7032-F875-4124-BB02-67DEAD96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6D9B54-0AC4-4986-9EE1-8B22879D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66900"/>
            <a:ext cx="1866900" cy="23431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CEBE3E-2DA8-4999-86AF-95FDE88C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574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9DE81B-CCFD-4C1A-BD94-B9C529FE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051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554209-F162-4314-9B42-0E96CC25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38500"/>
            <a:ext cx="1485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26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Check rows, confidence, artifacts, and constraints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903435-D9BD-47E3-8E60-87161E27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66900"/>
            <a:ext cx="1866900" cy="23431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BB2ACE-372A-4E52-ADB4-5C064BEF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0574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967A90-4AF7-408A-8D0A-3496D9EA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051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Respond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6D195B-1EF9-48FE-9DB3-C4147E33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38500"/>
            <a:ext cx="1485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Separate facts, inference, and review actions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AE398D-0C51-4C9D-BA28-FE0CFFA7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03632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7D8B56-69F5-4907-9EA5-0C082533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87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Not every query uses every tool.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0A5ECD-EEE4-46FB-85F4-D671FA5A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054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FE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CFE2EC"/>
                </a:solidFill>
                <a:latin typeface="Helvetica Neue"/>
                <a:ea typeface="Helvetica Neue"/>
                <a:cs typeface="Helvetica Neue"/>
              </a:rPr>
              <a:t>Inventory lookup: SQL only · Retirement plan: SQL + score + plan + FDA · Plot: SQL + OpenShell</a:t>
            </a:r>
          </a:p>
        </p:txBody>
      </p:sp>
    </p:spTree>
    <p:extLst>
      <p:ext uri="{BB962C8B-B14F-4D97-AF65-F5344CB8AC3E}">
        <p14:creationId xmlns:p14="http://schemas.microsoft.com/office/powerpoint/2010/main" val="4973186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D700BA-AAC8-4E28-B2FF-6A48263A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DESIGN EVOLUTION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A8803-F17F-4C84-B2E9-9C44077D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ALM agents become composable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D745E-C1FE-4065-9EF9-A992C730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A369C-AD85-4554-8584-A04AE06A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CCE2D-444E-4470-B52C-7BD0F166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466850"/>
          <a:ext xmlns:a="http://schemas.openxmlformats.org/drawingml/2006/main" cx="110490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76750"/>
                <a:gridCol w="4095750"/>
              </a:tblGrid>
              <a:tr h="6318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ALM CONCEPT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THIS PROTOTYPE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WHY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SQL agent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describe_hospital_database + query_hospital_database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 schema inspection and SQL enforcement explicit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Plot / code agent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OpenShell built-in file + execution tools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Generated code needs an isolation boundary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Anomaly detection agent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Omitted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unvalidated foundation-model score in the critical path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RUL prediction agent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Omitted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Requires governed model + validated asset-specific features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Planner / router agents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Single Deep Agent loop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Less coordination overhead; clearer trace for a workshop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0F4E7-5B79-4277-998B-3014A583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Add subagents when parallelism or context specialization earns its operational cost—not because the diagram looks more agentic.</a:t>
            </a:r>
          </a:p>
        </p:txBody>
      </p:sp>
    </p:spTree>
    <p:extLst>
      <p:ext uri="{BB962C8B-B14F-4D97-AF65-F5344CB8AC3E}">
        <p14:creationId xmlns:p14="http://schemas.microsoft.com/office/powerpoint/2010/main" val="638616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3EA14-FBE2-456D-B308-F1394656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HEALTHCARE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6E722-80B0-4589-9561-F3F737AE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Tool contracts bound what the model can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C212F-CD59-4023-8A9C-F65171F5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DDF13-3B0A-4EE1-B8B1-FE9D04DC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F7CE4-C24D-4739-8FEE-A73EBE40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57200" y="1390650"/>
          <a:ext xmlns:a="http://schemas.openxmlformats.org/drawingml/2006/main" cx="112776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667000"/>
                <a:gridCol w="3143250"/>
                <a:gridCol w="2895600"/>
              </a:tblGrid>
              <a:tr h="62048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TOOL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INPUT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OUTPUT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INVARIANT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describe_hospital_database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none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tables · columns · meaning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must precede model-authored SQL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query_hospital_database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 / WITH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rows + fictional-data tag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writes; no FDA tables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search_maude_events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 code · maker · model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normalized events + source URL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model/product signal only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 MCP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 code · maker · model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 records + status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process boundary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score_retirement_risk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asset IDs / department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versioned components + action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deterministic formula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build_replacement_plan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budget + scope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/ next phase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budget changes phase, not risk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331FB-D041-4196-9775-297EFBD7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436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D645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D64550"/>
                </a:solidFill>
                <a:latin typeface="Helvetica Neue"/>
                <a:ea typeface="Helvetica Neue"/>
                <a:cs typeface="Helvetica Neue"/>
              </a:rPr>
              <a:t>The model never receives a generic “run arbitrary hospital operation” tool.</a:t>
            </a:r>
          </a:p>
        </p:txBody>
      </p:sp>
    </p:spTree>
    <p:extLst>
      <p:ext uri="{BB962C8B-B14F-4D97-AF65-F5344CB8AC3E}">
        <p14:creationId xmlns:p14="http://schemas.microsoft.com/office/powerpoint/2010/main" val="18729039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D7735D-C5D8-42B0-8B6E-23A3F217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AI-Q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29790-E71E-4D65-BB58-FF875870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AI-Q composes the model, tools, MCP, and sandbox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D34A0-DC36-4152-89D4-0187E9AA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91522-27F6-4C04-8608-23BD4B09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B71AC-2FA7-429D-9634-015F36D5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8DE77-A199-4E86-93DA-77E92009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6381750" cy="4762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37501-AF3C-4C24-9ECF-A18C477B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5962650" cy="441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llms: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nemotron_ultra: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  _type: nim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  api_key: ${NVIDIA_API_KEY}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  model_name: ${NVIDIA_MODEL_NAME}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  base_url: ${NVIDIA_API_BASE_URL}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  temperature: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function_groups: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regulatory_grounding: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  _type: mcp_client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  include: [search_device_recalls]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workflow: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_type: healthcare_alm_deep_agent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llm: nemotron_ultra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sandbox: agent_sandbox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tools: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  - describe_hospital_database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  - query_hospital_database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  - search_maude_events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  - regulatory_grounding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  - score_retirement_risk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  - build_replacement_plan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FB164-2A5F-4041-B1CD-BE9EDAA4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38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34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Configuration is composition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C9562-DFD7-4B64-A89A-AE9DCBF7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05050"/>
            <a:ext cx="390525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 algn="l">
              <a:spcAft>
                <a:spcPts val="12"/>
              </a:spcAft>
              <a:buChar char="•"/>
              <a:defRPr sz="157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No custom web server is required for the primary demo path</a:t>
            </a:r>
          </a:p>
          <a:p xmlns:a="http://schemas.openxmlformats.org/drawingml/2006/main">
            <a:pPr marL="26" indent="-14" algn="l">
              <a:spcAft>
                <a:spcPts val="12"/>
              </a:spcAft>
              <a:buChar char="•"/>
              <a:defRPr sz="157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The CLI query becomes the Deep Agent input</a:t>
            </a:r>
          </a:p>
          <a:p xmlns:a="http://schemas.openxmlformats.org/drawingml/2006/main">
            <a:pPr marL="26" indent="-14" algn="l">
              <a:spcAft>
                <a:spcPts val="12"/>
              </a:spcAft>
              <a:buChar char="•"/>
              <a:defRPr sz="157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MCP and function tools share one workflow surface</a:t>
            </a:r>
          </a:p>
          <a:p xmlns:a="http://schemas.openxmlformats.org/drawingml/2006/main">
            <a:pPr marL="26" indent="-14" algn="l">
              <a:spcAft>
                <a:spcPts val="12"/>
              </a:spcAft>
              <a:buChar char="•"/>
              <a:defRPr sz="157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OpenShell artifacts are harvested per run</a:t>
            </a:r>
          </a:p>
          <a:p xmlns:a="http://schemas.openxmlformats.org/drawingml/2006/main">
            <a:pPr marL="26" indent="-14" algn="l">
              <a:spcAft>
                <a:spcPts val="12"/>
              </a:spcAft>
              <a:buChar char="•"/>
              <a:defRPr sz="157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Participant credentials load from a local gitignored .env into the AI-Q process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39F65-46BF-4750-924E-2E047467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76850"/>
            <a:ext cx="3905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0">
            <a:solidFill>
              <a:srgbClr val="EEF2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0ACD2-D915-4CA9-8CE0-F2559569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76875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Pinned base: AI-Q v2.2.0-rc3</a:t>
            </a:r>
          </a:p>
        </p:txBody>
      </p:sp>
    </p:spTree>
    <p:extLst>
      <p:ext uri="{BB962C8B-B14F-4D97-AF65-F5344CB8AC3E}">
        <p14:creationId xmlns:p14="http://schemas.microsoft.com/office/powerpoint/2010/main" val="6845140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C35CE4-9941-44A6-8ED0-6D38C28C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LOCAL DATA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6634F-71E4-430E-9D4D-1D7C95B1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Read-only SQL constrains database autonomy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BEBD4-32C8-46E7-B637-F3DF0512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D82B7-07CC-4951-A066-EAADDC93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0F4C0-7C52-40B0-911C-B2F2E0C7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EAA00-410B-482D-9525-A14502A9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A6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F36CC-3508-4FEE-B34A-F9CDB293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44BFB-7E3F-4628-AB63-7EBE392E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859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Describe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1EF18-6BB1-4191-AB5D-37937CA4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466850"/>
            <a:ext cx="422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Return tables, columns, and authoritative field semantics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4B9A6-7752-4146-B74D-1626EA13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A6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20D18-6727-4E33-BBD6-8CC1F3D7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EF897-631F-45AE-8838-FC234FEC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Generate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4E7D2-B43C-41E6-A461-646F8E99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33650"/>
            <a:ext cx="422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Model writes a SELECT or WITH query for the user’s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68642-D234-4155-8530-E69B4DC4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4550"/>
          </a:solidFill>
          <a:ln xmlns:a="http://schemas.openxmlformats.org/drawingml/2006/main" w="0">
            <a:solidFill>
              <a:srgbClr val="D645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ED7F6-0AA7-4A63-9E35-335C0536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498B8E-CE62-421C-80B0-B837A297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Enforce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3DFE6E-3D96-40A5-ABBC-550195EE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00450"/>
            <a:ext cx="422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Reject mutation, multiple statements, comments, and FDA-table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A7F69A-C013-4170-BD68-39D589F5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A6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64FC8-D501-441D-ABF6-36417787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ABA59B-625C-4FD8-9363-7CE5BF3F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Recover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0DCA8-F9ED-40B8-AD28-853C6DF8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67250"/>
            <a:ext cx="422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Return schema-aware retry guidance instead of crashing the 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972FE4-B6A7-43BB-95A9-109F26F0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62100"/>
            <a:ext cx="3695700" cy="3600450"/>
          </a:xfrm>
          <a:prstGeom xmlns:a="http://schemas.openxmlformats.org/drawingml/2006/main" prst="roundRect">
            <a:avLst>
              <a:gd name="adj" fmla="val 264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B2461C-179F-4CEF-BE9A-A3B6D442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33550"/>
            <a:ext cx="32766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SELECT asset_id, manufacturer,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     brand_name, model_number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FROM inventory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WHERE department = 'ICU'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ORDER BY asset_id;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-- returns 3 rows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-- PUMP-001 · PUMP-004 · PUMP-009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4EEB6C-C95A-4ADE-8556-521BE20F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6735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Result metadata: row_count + data_classification = “fictional workshop data”</a:t>
            </a:r>
          </a:p>
        </p:txBody>
      </p:sp>
    </p:spTree>
    <p:extLst>
      <p:ext uri="{BB962C8B-B14F-4D97-AF65-F5344CB8AC3E}">
        <p14:creationId xmlns:p14="http://schemas.microsoft.com/office/powerpoint/2010/main" val="19715964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D737B-A984-4587-9D49-BA53CE78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FDA TOOLS + MCP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696E7-3491-4D90-9E98-BFF97123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Regulatory grounding has its own trust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A08A6-19E3-48C6-B405-412A0902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0B5CF-27DA-49AD-B955-B3304C1C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9F1AA-5341-480B-B57D-A01D5BAE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D9F32-A4C3-4370-B4AE-03BED0DC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MAUDE host function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7DC40-E73E-4565-968C-576068CF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485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Fetch cached or live openFDA event records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Normalize manufacturer, brand, model, event date/type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Return source URL and FDA disclaimer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Never exposes raw hospital identifiers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C1CA9-23FE-47AA-B38B-F45A8DDF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4859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A5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2A594"/>
                </a:solidFill>
                <a:latin typeface="Helvetica Neue"/>
                <a:ea typeface="Helvetica Neue"/>
                <a:cs typeface="Helvetica Neue"/>
              </a:rPr>
              <a:t>Recall MCP function group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7825E-3D44-4A0F-991B-3CB0E2DC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85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stdio FastMCP server loaded by AI-Q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Search recall status, affected model text, and reason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Keeps the regulatory adapter independently replaceable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Returns evidence—not an operational removal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6389D-9E3E-49F2-AD36-DCE09DD5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DFC8D-805A-46B9-AA61-E572E980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066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64B"/>
          </a:solidFill>
          <a:ln xmlns:a="http://schemas.openxmlformats.org/drawingml/2006/main" w="0">
            <a:solidFill>
              <a:srgbClr val="1886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2D6B7-15E3-4D6E-9705-C4D45812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AD10E-7F8C-44E3-BB42-B589942B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14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manufacturer +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4B345-C582-4391-899A-AEC338E3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959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full model-level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9B10B-9B4B-497A-BEC0-3C5514FB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95850"/>
            <a:ext cx="1066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202"/>
          </a:solidFill>
          <a:ln xmlns:a="http://schemas.openxmlformats.org/drawingml/2006/main" w="0">
            <a:solidFill>
              <a:srgbClr val="F0A20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346A6B-9E5A-4592-A3A0-3B74DA81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MEDIUM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04D141-25BE-4F28-82CB-5178D50E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914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manufacturer + brand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71248-AE3F-4017-8B7E-406E2479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2959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explain ambiguity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1C542C-A4AD-4648-BB64-891B0742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95850"/>
            <a:ext cx="1066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4550"/>
          </a:solidFill>
          <a:ln xmlns:a="http://schemas.openxmlformats.org/drawingml/2006/main" w="0">
            <a:solidFill>
              <a:srgbClr val="D6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1C6B54-D089-41F2-8EEE-48CBD12E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530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720ADE-6ACC-4D67-8A82-CA109A82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14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product code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D86D57-D744-4263-9038-15540CFF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959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cap trend + severity points</a:t>
            </a:r>
          </a:p>
        </p:txBody>
      </p:sp>
    </p:spTree>
    <p:extLst>
      <p:ext uri="{BB962C8B-B14F-4D97-AF65-F5344CB8AC3E}">
        <p14:creationId xmlns:p14="http://schemas.microsoft.com/office/powerpoint/2010/main" val="76219286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2BD59-14DA-4BFA-919B-28366733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DECISION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08782-53D9-490B-B870-E5BC76A9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401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The risk formula and budget planner remain authoritative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4FDFF-DD45-4756-ADC5-AE17E679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FB422-D9EC-4ECA-B567-727AE38A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6838C-C5B0-4151-8169-DAC5DB6E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619125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cdf2f754e84ad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E18C3-25EC-4A85-9AE6-77BFFD16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428750"/>
            <a:ext cx="424815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0F7AC-28E4-4407-95E9-4B8243DB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145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Versioned thresholds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396FD-2977-42A0-A7D0-5CACB02F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003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D645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D64550"/>
                </a:solidFill>
                <a:latin typeface="Helvetica Neue"/>
                <a:ea typeface="Helvetica Neue"/>
                <a:cs typeface="Helvetica Neue"/>
              </a:rPr>
              <a:t>≥ 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E05C7-5E06-40AC-A9E5-883FBEDA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193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retire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4F9D4-5CFD-46C4-B9F7-7A9B5946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05125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BBDB9-53D1-4BEF-8C63-E5A465D8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242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0A20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F0A202"/>
                </a:solidFill>
                <a:latin typeface="Helvetica Neue"/>
                <a:ea typeface="Helvetica Neue"/>
                <a:cs typeface="Helvetica Neue"/>
              </a:rPr>
              <a:t>50–69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0D23A-AB8D-4D10-926B-371A08AD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plan replacement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5DD75-D266-4197-8BF5-B2FC6DFF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29025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D2B99-8BF3-4CF8-8565-24B14773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481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88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8864B"/>
                </a:solidFill>
                <a:latin typeface="Helvetica Neue"/>
                <a:ea typeface="Helvetica Neue"/>
                <a:cs typeface="Helvetica Neue"/>
              </a:rPr>
              <a:t>&lt; 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36250-CFB2-4413-A8CB-F485B6E7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671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maintain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10DA0-2285-4A1A-B45C-101DFA65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Planner: sort by risk → fit current budget → defer remaining candidates. Budget changes phase; it never rewrites risk.</a:t>
            </a:r>
          </a:p>
        </p:txBody>
      </p:sp>
    </p:spTree>
    <p:extLst>
      <p:ext uri="{BB962C8B-B14F-4D97-AF65-F5344CB8AC3E}">
        <p14:creationId xmlns:p14="http://schemas.microsoft.com/office/powerpoint/2010/main" val="7294665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84A52-ECA3-4997-AE95-640A8650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rPr>
              <a:t>WHY A SANDBOX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D2611-CD58-4C6B-BD75-8B512836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Generated code is useful because it is untrusted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3F766-0800-4BB7-81F4-656E6284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3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F7A41-5F74-4815-8182-3ECB2D1B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FA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FA7B8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553F3-F4FF-469E-9AED-1B5945A8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FA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FA7B8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3FD37-F4F1-4C42-A8FE-3378919E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rPr>
              <a:t>HOST PROCESS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CEC13-0AB0-4F77-8313-EAEFE7C0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4095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API credential and AI-Q runtime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Read-only healthcare tools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Artifact registry and run trace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Controls sandbox creation and deletion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C67B4-7F2A-48BD-AD2C-BEF364E0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430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EE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8EE8DA"/>
                </a:solidFill>
                <a:latin typeface="Helvetica Neue"/>
                <a:ea typeface="Helvetica Neue"/>
                <a:cs typeface="Helvetica Neue"/>
              </a:rPr>
              <a:t>OPENSHELL 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ED971-EDFB-4DE2-83EA-8B3B647A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95500"/>
            <a:ext cx="3905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Staged rows and generated Python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Ephemeral writable filesystem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Network blocked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 NVIDIA credentials</a:t>
            </a:r>
          </a:p>
          <a:p xmlns:a="http://schemas.openxmlformats.org/drawingml/2006/main">
            <a:pPr marL="26" indent="-14" algn="l">
              <a:spcAft>
                <a:spcPts val="10"/>
              </a:spcAft>
              <a:buChar char="•"/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Only allowlisted artifacts are harvested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B1A1E-348F-44B8-A925-3B75992F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99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417DF-6051-40C7-9A4F-CC9215DF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43300"/>
            <a:ext cx="110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BBD3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BBD3DE"/>
                </a:solidFill>
                <a:latin typeface="Helvetica Neue"/>
                <a:ea typeface="Helvetica Neue"/>
                <a:cs typeface="Helvetica Neue"/>
              </a:rPr>
              <a:t>data + code in</a:t>
            </a:r>
          </a:p>
          <a:p xmlns:a="http://schemas.openxmlformats.org/drawingml/2006/main">
            <a:pPr algn="ctr">
              <a:defRPr sz="1350" b="0" i="0">
                <a:solidFill>
                  <a:srgbClr val="BBD3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BBD3DE"/>
                </a:solidFill>
                <a:latin typeface="Helvetica Neue"/>
                <a:ea typeface="Helvetica Neue"/>
                <a:cs typeface="Helvetica Neue"/>
              </a:rPr>
              <a:t>artifacts 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BF037-CD49-4450-8728-77601F93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906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5384B"/>
          </a:solidFill>
          <a:ln xmlns:a="http://schemas.openxmlformats.org/drawingml/2006/main" w="9525">
            <a:solidFill>
              <a:srgbClr val="365B7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7D1D2-86DC-42CB-8D44-59E1EDEB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41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414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Sandboxing reduces blast radius; it does not make model-generated analysis automatically correct.</a:t>
            </a:r>
          </a:p>
        </p:txBody>
      </p:sp>
    </p:spTree>
    <p:extLst>
      <p:ext uri="{BB962C8B-B14F-4D97-AF65-F5344CB8AC3E}">
        <p14:creationId xmlns:p14="http://schemas.microsoft.com/office/powerpoint/2010/main" val="4418765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D5F388-5402-49D5-BFC2-D1DC14D4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OPENSHELL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6FC52-3047-4EE5-A29F-94E1C1CE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5771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Each analysis run gets an attested workspace and a deterministic cleanup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40756-F609-45D1-95D9-908373E2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F86D4-E474-4FA6-847D-92300C7F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441F2-8486-4447-8CBB-E399DF5F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316DB-AF97-4A54-961C-3E0DC728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95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ED9CF-5031-4D47-8BD7-4E4BB933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19300"/>
            <a:ext cx="15240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A3774-72DE-4C2B-8C36-5C72ED8F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CREATE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E015E-0A84-41AF-8839-78E128DF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one sandbox /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937EB-00DE-4BD3-ADBF-39AD2B0F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95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508BAE-C7DD-46D9-836B-48F9E960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19300"/>
            <a:ext cx="15240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C617A-36B8-4940-B768-36A3F7A7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11455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ATTEST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0A715-45E3-4846-BF5E-4F35337C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480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policy applied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10AD51-C4EB-414D-AFD7-B5C8AE97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95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23F23-8FB8-44B9-97EC-43A74B01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19300"/>
            <a:ext cx="15240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6C191C-A2F3-4ED1-9CC5-645B3761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1455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STAGE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BFF76-9DBB-4F32-8292-81B7083A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data + prompt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0398D2-6DAA-4E8E-B1A9-9AA62ED2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95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EA3F6E-8458-46B0-ADBA-2458E315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19300"/>
            <a:ext cx="15240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A8E4F3"/>
          </a:solidFill>
          <a:ln xmlns:a="http://schemas.openxmlformats.org/drawingml/2006/main" w="9525">
            <a:solidFill>
              <a:srgbClr val="00A6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2E9C69-171D-4D45-9751-5EBBC4AF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1455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EXECUTE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D15B87-695D-458F-8C6E-FF160903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480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generated Python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DD73AC-0552-4969-8621-8B1D1342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95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0C9DDB-A782-4350-A80A-0552AB98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19300"/>
            <a:ext cx="15240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67AC5A-ED1F-4277-A395-72FF9984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1455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HARVEST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79CBA0-0019-4EB3-ADBF-09BDF888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manifest + allowlisted files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A69DF1-F0EF-4F49-A323-807E4E7F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019300"/>
            <a:ext cx="15240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A98DBB-50B5-45B8-BEB1-43697519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11455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DELETE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7EAF6B-A031-463E-98E0-FFB74240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0480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success, error, or cancel</a:t>
            </a:r>
          </a:p>
        </p:txBody>
      </p:sp>
      <p:graphicFrame>
        <p:nvGraphicFramePr>
          <p:cNvPr id="58" name=""/>
          <p:cNvGraphicFramePr/>
          <p:nvPr/>
        </p:nvGraphicFramePr>
        <p:xfrm>
          <a:off xmlns:a="http://schemas.openxmlformats.org/drawingml/2006/main" x="914400" y="3924300"/>
          <a:ext xmlns:a="http://schemas.openxmlformats.org/drawingml/2006/main" cx="10363200" cy="2038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048000"/>
                <a:gridCol w="5029200"/>
              </a:tblGrid>
              <a:tr h="3397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POLICY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PROTOTYPE SETTING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WHY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</a:tr>
              <a:tr h="3397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network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blocked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analysis uses staged data; no arbitrary egress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3397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filesystem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/workspace + temp only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bounded writable surface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3397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artifacts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.png .csv .json .md .ipynb · ≤50 MB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explicit harvest contract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3397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cleanup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delete_on_exit: true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residual sandbox after completion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3397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macOS isolation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Landlock best effort on Colima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workshop-grade; harden for production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0816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F9041F-43DE-4BBA-A480-1EA2174A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OBSERVED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96122-10B7-49BA-8455-A72F49D4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Q08 proves SQL → code → artifact →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709FA-6052-4065-A97E-52F4C9C9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C1456-1F77-411C-8BD0-76C8A57E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5F81C-FFBD-4DAA-90D4-EBC4041E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4b7ccbd8242c6"/>
          <a:stretch xmlns:a="http://schemas.openxmlformats.org/drawingml/2006/main"/>
        </p:blipFill>
        <p:spPr>
          <a:xfrm xmlns:a="http://schemas.openxmlformats.org/drawingml/2006/main">
            <a:off x="533400" y="1531620"/>
            <a:ext cx="6800850" cy="4080510"/>
          </a:xfrm>
          <a:prstGeom xmlns:a="http://schemas.openxmlformats.org/drawingml/2006/main" prst="roundRect">
            <a:avLst>
              <a:gd name="adj" fmla="val 181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5E8FF-6149-4A9E-AC77-79521F29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66850"/>
            <a:ext cx="3752850" cy="42100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6E4A1-3F77-42FB-B56C-61225BF6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81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r = 0.9495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CC59C-13B4-4732-BF99-636C5B27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193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n = 12 fictional pumps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A2A80-8E77-49B1-983E-82B4EEC0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33700"/>
            <a:ext cx="3181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1FF00-A313-42EF-AD48-7C46A68A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81350"/>
            <a:ext cx="30670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 algn="l">
              <a:spcAft>
                <a:spcPts val="7"/>
              </a:spcAft>
              <a:buChar char="•"/>
              <a:defRPr sz="15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describe schema</a:t>
            </a:r>
          </a:p>
          <a:p xmlns:a="http://schemas.openxmlformats.org/drawingml/2006/main">
            <a:pPr marL="26" indent="-14" algn="l">
              <a:spcAft>
                <a:spcPts val="7"/>
              </a:spcAft>
              <a:buChar char="•"/>
              <a:defRPr sz="15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query inventory rows</a:t>
            </a:r>
          </a:p>
          <a:p xmlns:a="http://schemas.openxmlformats.org/drawingml/2006/main">
            <a:pPr marL="26" indent="-14" algn="l">
              <a:spcAft>
                <a:spcPts val="7"/>
              </a:spcAft>
              <a:buChar char="•"/>
              <a:defRPr sz="15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write generated Python</a:t>
            </a:r>
          </a:p>
          <a:p xmlns:a="http://schemas.openxmlformats.org/drawingml/2006/main">
            <a:pPr marL="26" indent="-14" algn="l">
              <a:spcAft>
                <a:spcPts val="7"/>
              </a:spcAft>
              <a:buChar char="•"/>
              <a:defRPr sz="15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execute in OpenShell</a:t>
            </a:r>
          </a:p>
          <a:p xmlns:a="http://schemas.openxmlformats.org/drawingml/2006/main">
            <a:pPr marL="26" indent="-14" algn="l">
              <a:spcAft>
                <a:spcPts val="7"/>
              </a:spcAft>
              <a:buChar char="•"/>
              <a:defRPr sz="15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harvest CSV + PNG</a:t>
            </a:r>
          </a:p>
          <a:p xmlns:a="http://schemas.openxmlformats.org/drawingml/2006/main">
            <a:pPr marL="26" indent="-14" algn="l">
              <a:spcAft>
                <a:spcPts val="7"/>
              </a:spcAft>
              <a:buChar char="•"/>
              <a:defRPr sz="15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answer with artifact names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5C71F-4CF2-4FD5-8DD9-1FD72753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062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D645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D64550"/>
                </a:solidFill>
                <a:latin typeface="Helvetica Neue"/>
                <a:ea typeface="Helvetica Neue"/>
                <a:cs typeface="Helvetica Neue"/>
              </a:rPr>
              <a:t>Association is not causation—and this dataset was designed to contain the pattern.</a:t>
            </a:r>
          </a:p>
        </p:txBody>
      </p:sp>
    </p:spTree>
    <p:extLst>
      <p:ext uri="{BB962C8B-B14F-4D97-AF65-F5344CB8AC3E}">
        <p14:creationId xmlns:p14="http://schemas.microsoft.com/office/powerpoint/2010/main" val="13786556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40733E-F4D7-47B2-BF3E-67F2AC8E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OBSERVED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5CA30-BFB5-4D98-8D0A-B1ED3F10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Q10 turns downtime rows into Pareto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E4794-94AE-48C7-B1F6-6C30548B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61351-7E88-42FD-AEA4-5F5BCF77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BD0E3-8929-4308-84CA-B9F2C78C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745139a844c1d"/>
          <a:stretch xmlns:a="http://schemas.openxmlformats.org/drawingml/2006/main"/>
        </p:blipFill>
        <p:spPr>
          <a:xfrm xmlns:a="http://schemas.openxmlformats.org/drawingml/2006/main">
            <a:off x="533400" y="1480507"/>
            <a:ext cx="7239000" cy="4201785"/>
          </a:xfrm>
          <a:prstGeom xmlns:a="http://schemas.openxmlformats.org/drawingml/2006/main" prst="roundRect">
            <a:avLst>
              <a:gd name="adj" fmla="val 18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19CD2-6D4D-48E8-B9EC-D2C6CF92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66850"/>
            <a:ext cx="3333750" cy="42291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C1BFC-0C28-44EE-A814-B87346CF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90700"/>
            <a:ext cx="2838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109 / 192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DC173-E78F-4810-AE23-E9ECCBCA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5745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rPr>
              <a:t>downtime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CE242-EDDE-400E-8E37-180F4506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283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8EE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8EE8DA"/>
                </a:solidFill>
                <a:latin typeface="Helvetica Neue"/>
                <a:ea typeface="Helvetica Neue"/>
                <a:cs typeface="Helvetica Neue"/>
              </a:rPr>
              <a:t>56.77%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37ED4-5B04-4A4B-BC3B-A3677CE2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1475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from the top three assets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6B667-8A5E-42DE-B03D-36200981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48150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3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475E4-5344-47D8-9164-9C6DA306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76750"/>
            <a:ext cx="2076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PUMP-004</a:t>
            </a:r>
          </a:p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PUMP-007</a:t>
            </a:r>
          </a:p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PUMP-001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3ED88B-421D-4287-A383-EB038D04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16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The artifact changes the conversation from “which device is worst?” to “what smallest set explains most downtime?”</a:t>
            </a:r>
          </a:p>
        </p:txBody>
      </p:sp>
    </p:spTree>
    <p:extLst>
      <p:ext uri="{BB962C8B-B14F-4D97-AF65-F5344CB8AC3E}">
        <p14:creationId xmlns:p14="http://schemas.microsoft.com/office/powerpoint/2010/main" val="13003226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C6553-981E-452A-948D-4A784866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QUALITY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0BACF-C613-44CC-A4D6-85978568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Evaluation grades behavior—not prose similarity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B81A6-810A-4CFD-9890-66A98448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E3C1D-3E44-42CF-9728-D6CCE823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2D6B9-8E17-43B0-BF22-69DAE698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936C5-18E3-41A0-9237-E3A328E2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188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18864B"/>
                </a:solidFill>
                <a:latin typeface="Helvetica Neue"/>
                <a:ea typeface="Helvetica Neue"/>
                <a:cs typeface="Helvetica Neue"/>
              </a:rPr>
              <a:t>10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29422-F906-40EC-B03A-D5349251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live cases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0A584-49F9-481B-8100-2F563D00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38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2 easy · 4 medium · 4 hard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B78AD-7269-41D7-8FBC-BBE6352E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00A6D6"/>
                </a:solidFill>
                <a:latin typeface="Helvetica Neue"/>
                <a:ea typeface="Helvetica Neue"/>
                <a:cs typeface="Helvetica Neue"/>
              </a:rPr>
              <a:t>69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57007-4C32-48BE-8494-30831AD4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tests passed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D9F05-BC41-4BF7-9D1E-06D9DFB5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38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SQL, tools, sandbox, artifacts, cleanup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D49A8-E9F3-454C-81BA-9BC49292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12A5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12A594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4130E-D5B6-4AA9-AFC5-073031DF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sandbox gates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2DB4A-C6AE-4A68-BE45-B6AA0327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38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Q08 correlation · Q10 Pareto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0CEB7-8BF6-405A-A812-FACFE3C0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D645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D6455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2F7DED-3594-4E46-82F0-5F748178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safety refusal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51A886-9B50-4EBD-BCE3-0B9CA87E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38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6371"/>
                </a:solidFill>
                <a:latin typeface="Helvetica Neue"/>
                <a:ea typeface="Helvetica Neue"/>
                <a:cs typeface="Helvetica Neue"/>
              </a:rPr>
              <a:t>Q07 rejects causality and rate claims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609600" y="3790950"/>
          <a:ext xmlns:a="http://schemas.openxmlformats.org/drawingml/2006/main" cx="1097280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953000"/>
                <a:gridCol w="3924300"/>
              </a:tblGrid>
              <a:tr h="3746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DIMENSION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IS GRADED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EXAMPLE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trajectory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tools called; prohibited tools absent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schema → SQL → OpenShell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facts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IDs, counts, scores, budget totals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PUMP-009 = 74; $48K spent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numeric tolerance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calculated values within bounds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 = 0.9495 ± 0.001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safety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forbidden claims + required disclaimers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unit causality; no denominator-free rate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artifacts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file type, signature, and expected names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11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 CSV + PNG; cleanup verified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15743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77C65-FA1D-441B-AF0E-5F05E81B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rPr>
              <a:t>DEMO + CALL TO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135D9-70D5-4D39-BC34-FDB8A571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52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Run it, inspect the trace, then swap in your own governed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33FE9-FE43-4E71-AD4C-A2A01446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3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6A12D-6E50-4544-B970-003051BB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FA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FA7B8"/>
                </a:solidFill>
                <a:latin typeface="Helvetica Neue"/>
                <a:ea typeface="Helvetica Neue"/>
                <a:cs typeface="Helvetica Neue"/>
              </a:rPr>
              <a:t>Agents in Healthcare · Medical Device ALM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8C85A-AA3A-4B75-B0CB-CE3781CB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FA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FA7B8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C8B3C-1F8D-48B8-BA85-290592E8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6724650" cy="2152650"/>
          </a:xfrm>
          <a:prstGeom xmlns:a="http://schemas.openxmlformats.org/drawingml/2006/main" prst="roundRect">
            <a:avLst>
              <a:gd name="adj" fmla="val 4425"/>
            </a:avLst>
          </a:prstGeom>
          <a:solidFill xmlns:a="http://schemas.openxmlformats.org/drawingml/2006/main">
            <a:srgbClr val="061725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88B1B-D41B-4F6B-A8B5-93699069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3055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python scripts/run_with_env.py \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.venv/bin/nat run \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--config_file configs/config_aiq_agent.yml \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--input "Create an ICU retirement plan under $50,000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9F5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D9F5FF"/>
                </a:solidFill>
                <a:latin typeface="Menlo"/>
                <a:ea typeface="Menlo"/>
                <a:cs typeface="Menlo"/>
              </a:rPr>
              <a:t>           using age, maintenance, and FDA evidence."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F3861-A46E-497C-BB69-E312D847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672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Inspect after the answer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2C264-6651-43E3-ADC6-661748DE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6724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FE4EE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CFE4EE"/>
                </a:solidFill>
                <a:latin typeface="Menlo"/>
                <a:ea typeface="Menlo"/>
                <a:cs typeface="Menlo"/>
              </a:rPr>
              <a:t>output/agent-runs/&lt;run-id&gt;/run.json</a:t>
            </a:r>
          </a:p>
          <a:p xmlns:a="http://schemas.openxmlformats.org/drawingml/2006/main">
            <a:pPr algn="l">
              <a:defRPr sz="1425" b="0" i="0">
                <a:solidFill>
                  <a:srgbClr val="CFE4EE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CFE4EE"/>
                </a:solidFill>
                <a:latin typeface="Menlo"/>
                <a:ea typeface="Menlo"/>
                <a:cs typeface="Menlo"/>
              </a:rPr>
              <a:t>output/agent-runs/&lt;run-id&gt;/*.csv · *.png</a:t>
            </a:r>
          </a:p>
          <a:p xmlns:a="http://schemas.openxmlformats.org/drawingml/2006/main">
            <a:pPr algn="l">
              <a:defRPr sz="1425" b="0" i="0">
                <a:solidFill>
                  <a:srgbClr val="CFE4EE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CFE4EE"/>
                </a:solidFill>
                <a:latin typeface="Menlo"/>
                <a:ea typeface="Menlo"/>
                <a:cs typeface="Menlo"/>
              </a:rPr>
              <a:t>openshell sandbox list  →  no sandboxes found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CBEE8-9C72-4C29-BA5B-5C5CCD84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447800"/>
            <a:ext cx="3867150" cy="40576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15384B"/>
          </a:solidFill>
          <a:ln xmlns:a="http://schemas.openxmlformats.org/drawingml/2006/main" w="9525">
            <a:solidFill>
              <a:srgbClr val="365B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03ED9-BB5C-4B66-A783-2DBB0116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33550"/>
            <a:ext cx="329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Find the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DB3C9-B4A7-4817-879C-1C1E4A41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66950"/>
            <a:ext cx="3295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rPr>
              <a:t>Your workshop repository</a:t>
            </a:r>
          </a:p>
          <a:p xmlns:a="http://schemas.openxmlformats.org/drawingml/2006/main">
            <a:pPr algn="l">
              <a:defRPr sz="180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A8E4F3"/>
                </a:solidFill>
                <a:latin typeface="Helvetica Neue"/>
                <a:ea typeface="Helvetica Neue"/>
                <a:cs typeface="Helvetica Neue"/>
              </a:rPr>
              <a:t>alm-for-healthcare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28DAA-71F8-4AA5-A8AD-2B128807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43250"/>
            <a:ext cx="329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B7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7129B0-6DFE-4455-A1C4-FFCB3BF4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09950"/>
            <a:ext cx="32956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71"/>
          </a:bodyPr>
          <a:lstStyle xmlns:a="http://schemas.openxmlformats.org/drawingml/2006/main"/>
          <a:p xmlns:a="http://schemas.openxmlformats.org/drawingml/2006/main">
            <a:pPr marL="26" indent="-14" algn="l">
              <a:spcAft>
                <a:spcPts val="9"/>
              </a:spcAft>
              <a:buChar char="•"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Fork the repository</a:t>
            </a:r>
          </a:p>
          <a:p xmlns:a="http://schemas.openxmlformats.org/drawingml/2006/main">
            <a:pPr marL="26" indent="-14" algn="l">
              <a:spcAft>
                <a:spcPts val="9"/>
              </a:spcAft>
              <a:buChar char="•"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Replace the mock schema with CMMS fields</a:t>
            </a:r>
          </a:p>
          <a:p xmlns:a="http://schemas.openxmlformats.org/drawingml/2006/main">
            <a:pPr marL="26" indent="-14" algn="l">
              <a:spcAft>
                <a:spcPts val="9"/>
              </a:spcAft>
              <a:buChar char="•"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Add governed clinical criticality + cybersecurity + service-support signals</a:t>
            </a:r>
          </a:p>
          <a:p xmlns:a="http://schemas.openxmlformats.org/drawingml/2006/main">
            <a:pPr marL="26" indent="-14" algn="l">
              <a:spcAft>
                <a:spcPts val="9"/>
              </a:spcAft>
              <a:buChar char="•"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Extend the evaluation set before adding subagents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A8F23-EE19-48C0-ABEC-6B1331F7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AFC5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AFC5D0"/>
                </a:solidFill>
                <a:latin typeface="Helvetica Neue"/>
                <a:ea typeface="Helvetica Neue"/>
                <a:cs typeface="Helvetica Neue"/>
              </a:rPr>
              <a:t>Human clinical-engineering review remains the final decision boundary.</a:t>
            </a:r>
          </a:p>
        </p:txBody>
      </p:sp>
    </p:spTree>
    <p:extLst>
      <p:ext uri="{BB962C8B-B14F-4D97-AF65-F5344CB8AC3E}">
        <p14:creationId xmlns:p14="http://schemas.microsoft.com/office/powerpoint/2010/main" val="7858170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2026-08-19T06:36:39.3810000Z</dcterms:created>
  <dcterms:modified xsi:type="dcterms:W3CDTF">2026-08-19T06:36:39.3810000Z</dcterms:modified>
</coreProperties>
</file>